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0514A6-F5B1-4D3A-923B-7A5D9EDD327A}" v="38" dt="2026-03-22T02:45:37.8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6" autoAdjust="0"/>
    <p:restoredTop sz="94660"/>
  </p:normalViewPr>
  <p:slideViewPr>
    <p:cSldViewPr snapToGrid="0">
      <p:cViewPr varScale="1">
        <p:scale>
          <a:sx n="91" d="100"/>
          <a:sy n="91" d="100"/>
        </p:scale>
        <p:origin x="5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celyn Beavers" userId="885bbc2b4df2f46c" providerId="LiveId" clId="{5244EF33-E639-424C-AC2F-95731FBC8D9F}"/>
    <pc:docChg chg="undo custSel addSld modSld">
      <pc:chgData name="Jocelyn Beavers" userId="885bbc2b4df2f46c" providerId="LiveId" clId="{5244EF33-E639-424C-AC2F-95731FBC8D9F}" dt="2026-03-22T02:59:38.223" v="3108" actId="1076"/>
      <pc:docMkLst>
        <pc:docMk/>
      </pc:docMkLst>
      <pc:sldChg chg="addSp modSp mod">
        <pc:chgData name="Jocelyn Beavers" userId="885bbc2b4df2f46c" providerId="LiveId" clId="{5244EF33-E639-424C-AC2F-95731FBC8D9F}" dt="2026-03-22T02:54:05.778" v="3065" actId="1076"/>
        <pc:sldMkLst>
          <pc:docMk/>
          <pc:sldMk cId="2809005150" sldId="256"/>
        </pc:sldMkLst>
        <pc:spChg chg="mod">
          <ac:chgData name="Jocelyn Beavers" userId="885bbc2b4df2f46c" providerId="LiveId" clId="{5244EF33-E639-424C-AC2F-95731FBC8D9F}" dt="2026-03-22T02:41:46.830" v="2939" actId="1076"/>
          <ac:spMkLst>
            <pc:docMk/>
            <pc:sldMk cId="2809005150" sldId="256"/>
            <ac:spMk id="2" creationId="{8FD12915-AABC-1B21-A2AA-011C356CE346}"/>
          </ac:spMkLst>
        </pc:spChg>
        <pc:spChg chg="mod">
          <ac:chgData name="Jocelyn Beavers" userId="885bbc2b4df2f46c" providerId="LiveId" clId="{5244EF33-E639-424C-AC2F-95731FBC8D9F}" dt="2026-03-22T02:54:05.778" v="3065" actId="1076"/>
          <ac:spMkLst>
            <pc:docMk/>
            <pc:sldMk cId="2809005150" sldId="256"/>
            <ac:spMk id="3" creationId="{6BE9599F-BB99-4BF0-B35B-55E8D0790B3E}"/>
          </ac:spMkLst>
        </pc:spChg>
        <pc:spChg chg="mod">
          <ac:chgData name="Jocelyn Beavers" userId="885bbc2b4df2f46c" providerId="LiveId" clId="{5244EF33-E639-424C-AC2F-95731FBC8D9F}" dt="2026-03-22T02:42:02.301" v="2941" actId="14100"/>
          <ac:spMkLst>
            <pc:docMk/>
            <pc:sldMk cId="2809005150" sldId="256"/>
            <ac:spMk id="4" creationId="{D732CC01-DF64-FD05-9B84-17541CF1D40A}"/>
          </ac:spMkLst>
        </pc:spChg>
        <pc:spChg chg="add mod">
          <ac:chgData name="Jocelyn Beavers" userId="885bbc2b4df2f46c" providerId="LiveId" clId="{5244EF33-E639-424C-AC2F-95731FBC8D9F}" dt="2026-03-22T02:41:57.509" v="2940" actId="1076"/>
          <ac:spMkLst>
            <pc:docMk/>
            <pc:sldMk cId="2809005150" sldId="256"/>
            <ac:spMk id="5" creationId="{A84C66A4-C2C6-FC14-3887-EABD198A59DF}"/>
          </ac:spMkLst>
        </pc:spChg>
      </pc:sldChg>
      <pc:sldChg chg="addSp delSp modSp new mod">
        <pc:chgData name="Jocelyn Beavers" userId="885bbc2b4df2f46c" providerId="LiveId" clId="{5244EF33-E639-424C-AC2F-95731FBC8D9F}" dt="2026-03-22T02:55:52.254" v="3072" actId="1076"/>
        <pc:sldMkLst>
          <pc:docMk/>
          <pc:sldMk cId="3040096134" sldId="257"/>
        </pc:sldMkLst>
        <pc:spChg chg="mod">
          <ac:chgData name="Jocelyn Beavers" userId="885bbc2b4df2f46c" providerId="LiveId" clId="{5244EF33-E639-424C-AC2F-95731FBC8D9F}" dt="2026-03-22T02:42:21.825" v="2943" actId="1076"/>
          <ac:spMkLst>
            <pc:docMk/>
            <pc:sldMk cId="3040096134" sldId="257"/>
            <ac:spMk id="2" creationId="{ABE63EF3-DE40-901E-F464-0BBF4D194347}"/>
          </ac:spMkLst>
        </pc:spChg>
        <pc:spChg chg="del mod">
          <ac:chgData name="Jocelyn Beavers" userId="885bbc2b4df2f46c" providerId="LiveId" clId="{5244EF33-E639-424C-AC2F-95731FBC8D9F}" dt="2026-03-22T02:26:25.315" v="2449" actId="478"/>
          <ac:spMkLst>
            <pc:docMk/>
            <pc:sldMk cId="3040096134" sldId="257"/>
            <ac:spMk id="3" creationId="{46ADFEB4-212D-34BF-FAA3-9408D95A977C}"/>
          </ac:spMkLst>
        </pc:spChg>
        <pc:spChg chg="add mod">
          <ac:chgData name="Jocelyn Beavers" userId="885bbc2b4df2f46c" providerId="LiveId" clId="{5244EF33-E639-424C-AC2F-95731FBC8D9F}" dt="2026-03-22T02:55:52.254" v="3072" actId="1076"/>
          <ac:spMkLst>
            <pc:docMk/>
            <pc:sldMk cId="3040096134" sldId="257"/>
            <ac:spMk id="4" creationId="{C7728F4F-A1C4-D67E-29D0-65F0F9B0D614}"/>
          </ac:spMkLst>
        </pc:spChg>
        <pc:spChg chg="add del mod">
          <ac:chgData name="Jocelyn Beavers" userId="885bbc2b4df2f46c" providerId="LiveId" clId="{5244EF33-E639-424C-AC2F-95731FBC8D9F}" dt="2026-03-22T01:02:08.941" v="155"/>
          <ac:spMkLst>
            <pc:docMk/>
            <pc:sldMk cId="3040096134" sldId="257"/>
            <ac:spMk id="5" creationId="{E02B73A0-B004-A954-27EC-F65B63D9D3F7}"/>
          </ac:spMkLst>
        </pc:spChg>
        <pc:spChg chg="add del mod">
          <ac:chgData name="Jocelyn Beavers" userId="885bbc2b4df2f46c" providerId="LiveId" clId="{5244EF33-E639-424C-AC2F-95731FBC8D9F}" dt="2026-03-22T01:04:58.147" v="196" actId="478"/>
          <ac:spMkLst>
            <pc:docMk/>
            <pc:sldMk cId="3040096134" sldId="257"/>
            <ac:spMk id="6" creationId="{4E482809-81E3-F705-361B-178FB611939D}"/>
          </ac:spMkLst>
        </pc:spChg>
        <pc:spChg chg="add del mod">
          <ac:chgData name="Jocelyn Beavers" userId="885bbc2b4df2f46c" providerId="LiveId" clId="{5244EF33-E639-424C-AC2F-95731FBC8D9F}" dt="2026-03-22T01:02:49.387" v="164"/>
          <ac:spMkLst>
            <pc:docMk/>
            <pc:sldMk cId="3040096134" sldId="257"/>
            <ac:spMk id="7" creationId="{D6D3DA2C-049C-3AA5-4CA5-1B9499D66E63}"/>
          </ac:spMkLst>
        </pc:spChg>
        <pc:spChg chg="add del mod">
          <ac:chgData name="Jocelyn Beavers" userId="885bbc2b4df2f46c" providerId="LiveId" clId="{5244EF33-E639-424C-AC2F-95731FBC8D9F}" dt="2026-03-22T01:04:59.877" v="197" actId="478"/>
          <ac:spMkLst>
            <pc:docMk/>
            <pc:sldMk cId="3040096134" sldId="257"/>
            <ac:spMk id="8" creationId="{7B9F3FD2-3349-F7F0-0F44-CCBB7898305B}"/>
          </ac:spMkLst>
        </pc:spChg>
        <pc:spChg chg="add mod">
          <ac:chgData name="Jocelyn Beavers" userId="885bbc2b4df2f46c" providerId="LiveId" clId="{5244EF33-E639-424C-AC2F-95731FBC8D9F}" dt="2026-03-22T02:53:40.471" v="3063" actId="207"/>
          <ac:spMkLst>
            <pc:docMk/>
            <pc:sldMk cId="3040096134" sldId="257"/>
            <ac:spMk id="9" creationId="{2C896DE3-7D7D-045E-C1B0-F161B2457E98}"/>
          </ac:spMkLst>
        </pc:spChg>
        <pc:spChg chg="add mod">
          <ac:chgData name="Jocelyn Beavers" userId="885bbc2b4df2f46c" providerId="LiveId" clId="{5244EF33-E639-424C-AC2F-95731FBC8D9F}" dt="2026-03-22T02:53:45.758" v="3064" actId="207"/>
          <ac:spMkLst>
            <pc:docMk/>
            <pc:sldMk cId="3040096134" sldId="257"/>
            <ac:spMk id="10" creationId="{D7A0857F-B00F-AA01-773F-44CF76EF6B9D}"/>
          </ac:spMkLst>
        </pc:spChg>
        <pc:spChg chg="add mod">
          <ac:chgData name="Jocelyn Beavers" userId="885bbc2b4df2f46c" providerId="LiveId" clId="{5244EF33-E639-424C-AC2F-95731FBC8D9F}" dt="2026-03-22T02:26:35.105" v="2451" actId="767"/>
          <ac:spMkLst>
            <pc:docMk/>
            <pc:sldMk cId="3040096134" sldId="257"/>
            <ac:spMk id="11" creationId="{D2F2A3C5-A7F9-C02B-D6A1-06E75EA75C7F}"/>
          </ac:spMkLst>
        </pc:spChg>
        <pc:spChg chg="add mod">
          <ac:chgData name="Jocelyn Beavers" userId="885bbc2b4df2f46c" providerId="LiveId" clId="{5244EF33-E639-424C-AC2F-95731FBC8D9F}" dt="2026-03-22T02:53:31.370" v="3062" actId="207"/>
          <ac:spMkLst>
            <pc:docMk/>
            <pc:sldMk cId="3040096134" sldId="257"/>
            <ac:spMk id="12" creationId="{B5347A0D-25CE-245B-E552-AC4230C47200}"/>
          </ac:spMkLst>
        </pc:spChg>
        <pc:spChg chg="add mod">
          <ac:chgData name="Jocelyn Beavers" userId="885bbc2b4df2f46c" providerId="LiveId" clId="{5244EF33-E639-424C-AC2F-95731FBC8D9F}" dt="2026-03-22T02:53:22.038" v="3061" actId="207"/>
          <ac:spMkLst>
            <pc:docMk/>
            <pc:sldMk cId="3040096134" sldId="257"/>
            <ac:spMk id="15" creationId="{BAB66A96-C985-4B4A-BE2F-EFF681294580}"/>
          </ac:spMkLst>
        </pc:spChg>
        <pc:spChg chg="add mod">
          <ac:chgData name="Jocelyn Beavers" userId="885bbc2b4df2f46c" providerId="LiveId" clId="{5244EF33-E639-424C-AC2F-95731FBC8D9F}" dt="2026-03-22T02:52:36.141" v="3055" actId="14100"/>
          <ac:spMkLst>
            <pc:docMk/>
            <pc:sldMk cId="3040096134" sldId="257"/>
            <ac:spMk id="16" creationId="{8B56DF35-C2C8-1652-3E41-587285EA5AB2}"/>
          </ac:spMkLst>
        </pc:spChg>
        <pc:spChg chg="add mod">
          <ac:chgData name="Jocelyn Beavers" userId="885bbc2b4df2f46c" providerId="LiveId" clId="{5244EF33-E639-424C-AC2F-95731FBC8D9F}" dt="2026-03-22T02:53:04.215" v="3060" actId="14100"/>
          <ac:spMkLst>
            <pc:docMk/>
            <pc:sldMk cId="3040096134" sldId="257"/>
            <ac:spMk id="17" creationId="{5AF3C0BB-DB33-D2B2-EDAA-21C929353F6B}"/>
          </ac:spMkLst>
        </pc:spChg>
        <pc:picChg chg="add del">
          <ac:chgData name="Jocelyn Beavers" userId="885bbc2b4df2f46c" providerId="LiveId" clId="{5244EF33-E639-424C-AC2F-95731FBC8D9F}" dt="2026-03-22T02:28:07.653" v="2480" actId="478"/>
          <ac:picMkLst>
            <pc:docMk/>
            <pc:sldMk cId="3040096134" sldId="257"/>
            <ac:picMk id="14" creationId="{D2158BA5-045B-5A4A-2C33-33C620479D5F}"/>
          </ac:picMkLst>
        </pc:picChg>
      </pc:sldChg>
      <pc:sldChg chg="addSp modSp new mod">
        <pc:chgData name="Jocelyn Beavers" userId="885bbc2b4df2f46c" providerId="LiveId" clId="{5244EF33-E639-424C-AC2F-95731FBC8D9F}" dt="2026-03-22T02:55:59.740" v="3073" actId="1076"/>
        <pc:sldMkLst>
          <pc:docMk/>
          <pc:sldMk cId="3025767887" sldId="258"/>
        </pc:sldMkLst>
        <pc:spChg chg="mod">
          <ac:chgData name="Jocelyn Beavers" userId="885bbc2b4df2f46c" providerId="LiveId" clId="{5244EF33-E639-424C-AC2F-95731FBC8D9F}" dt="2026-03-22T02:52:09.034" v="3053" actId="1076"/>
          <ac:spMkLst>
            <pc:docMk/>
            <pc:sldMk cId="3025767887" sldId="258"/>
            <ac:spMk id="2" creationId="{C9903432-4B85-6710-0D22-EC9B4F8BF7A6}"/>
          </ac:spMkLst>
        </pc:spChg>
        <pc:spChg chg="mod">
          <ac:chgData name="Jocelyn Beavers" userId="885bbc2b4df2f46c" providerId="LiveId" clId="{5244EF33-E639-424C-AC2F-95731FBC8D9F}" dt="2026-03-22T02:51:39.642" v="3049" actId="255"/>
          <ac:spMkLst>
            <pc:docMk/>
            <pc:sldMk cId="3025767887" sldId="258"/>
            <ac:spMk id="3" creationId="{116C3920-AA6B-28DD-AFEB-690D9651DAA8}"/>
          </ac:spMkLst>
        </pc:spChg>
        <pc:spChg chg="add mod">
          <ac:chgData name="Jocelyn Beavers" userId="885bbc2b4df2f46c" providerId="LiveId" clId="{5244EF33-E639-424C-AC2F-95731FBC8D9F}" dt="2026-03-22T02:55:59.740" v="3073" actId="1076"/>
          <ac:spMkLst>
            <pc:docMk/>
            <pc:sldMk cId="3025767887" sldId="258"/>
            <ac:spMk id="4" creationId="{E4DAE7FE-9AA5-58FE-311C-10A4963577F9}"/>
          </ac:spMkLst>
        </pc:spChg>
        <pc:spChg chg="add mod">
          <ac:chgData name="Jocelyn Beavers" userId="885bbc2b4df2f46c" providerId="LiveId" clId="{5244EF33-E639-424C-AC2F-95731FBC8D9F}" dt="2026-03-22T02:39:53.383" v="2927" actId="1076"/>
          <ac:spMkLst>
            <pc:docMk/>
            <pc:sldMk cId="3025767887" sldId="258"/>
            <ac:spMk id="5" creationId="{C77F2FF2-45BC-54A4-9E20-AD462F5AD7F3}"/>
          </ac:spMkLst>
        </pc:spChg>
        <pc:spChg chg="add mod">
          <ac:chgData name="Jocelyn Beavers" userId="885bbc2b4df2f46c" providerId="LiveId" clId="{5244EF33-E639-424C-AC2F-95731FBC8D9F}" dt="2026-03-22T02:39:58.364" v="2928" actId="1076"/>
          <ac:spMkLst>
            <pc:docMk/>
            <pc:sldMk cId="3025767887" sldId="258"/>
            <ac:spMk id="6" creationId="{2E681AF5-DD7B-2A60-1FFC-C0699D2125E8}"/>
          </ac:spMkLst>
        </pc:spChg>
        <pc:spChg chg="add mod">
          <ac:chgData name="Jocelyn Beavers" userId="885bbc2b4df2f46c" providerId="LiveId" clId="{5244EF33-E639-424C-AC2F-95731FBC8D9F}" dt="2026-03-22T02:51:53.695" v="3051" actId="255"/>
          <ac:spMkLst>
            <pc:docMk/>
            <pc:sldMk cId="3025767887" sldId="258"/>
            <ac:spMk id="7" creationId="{96E356A7-07DE-DE1C-9BFA-6496D7644597}"/>
          </ac:spMkLst>
        </pc:spChg>
      </pc:sldChg>
      <pc:sldChg chg="addSp delSp modSp new mod">
        <pc:chgData name="Jocelyn Beavers" userId="885bbc2b4df2f46c" providerId="LiveId" clId="{5244EF33-E639-424C-AC2F-95731FBC8D9F}" dt="2026-03-22T02:59:38.223" v="3108" actId="1076"/>
        <pc:sldMkLst>
          <pc:docMk/>
          <pc:sldMk cId="369206720" sldId="259"/>
        </pc:sldMkLst>
        <pc:spChg chg="mod">
          <ac:chgData name="Jocelyn Beavers" userId="885bbc2b4df2f46c" providerId="LiveId" clId="{5244EF33-E639-424C-AC2F-95731FBC8D9F}" dt="2026-03-22T02:47:46.328" v="3008" actId="1076"/>
          <ac:spMkLst>
            <pc:docMk/>
            <pc:sldMk cId="369206720" sldId="259"/>
            <ac:spMk id="2" creationId="{A79466E4-B4BD-4A17-6F2C-568315F971AB}"/>
          </ac:spMkLst>
        </pc:spChg>
        <pc:spChg chg="add del mod">
          <ac:chgData name="Jocelyn Beavers" userId="885bbc2b4df2f46c" providerId="LiveId" clId="{5244EF33-E639-424C-AC2F-95731FBC8D9F}" dt="2026-03-22T02:41:23.723" v="2932" actId="27636"/>
          <ac:spMkLst>
            <pc:docMk/>
            <pc:sldMk cId="369206720" sldId="259"/>
            <ac:spMk id="3" creationId="{CB76D7F3-02CA-2B4D-ABFA-904DC26366D0}"/>
          </ac:spMkLst>
        </pc:spChg>
        <pc:spChg chg="add mod">
          <ac:chgData name="Jocelyn Beavers" userId="885bbc2b4df2f46c" providerId="LiveId" clId="{5244EF33-E639-424C-AC2F-95731FBC8D9F}" dt="2026-03-22T02:47:54.875" v="3009" actId="1076"/>
          <ac:spMkLst>
            <pc:docMk/>
            <pc:sldMk cId="369206720" sldId="259"/>
            <ac:spMk id="4" creationId="{D80163E3-271A-5402-5AD9-74D5C4B0CF40}"/>
          </ac:spMkLst>
        </pc:spChg>
        <pc:spChg chg="add mod">
          <ac:chgData name="Jocelyn Beavers" userId="885bbc2b4df2f46c" providerId="LiveId" clId="{5244EF33-E639-424C-AC2F-95731FBC8D9F}" dt="2026-03-22T02:59:38.223" v="3108" actId="1076"/>
          <ac:spMkLst>
            <pc:docMk/>
            <pc:sldMk cId="369206720" sldId="259"/>
            <ac:spMk id="5" creationId="{BD8B804A-0C68-DD83-F904-DDA8086703EB}"/>
          </ac:spMkLst>
        </pc:spChg>
        <pc:spChg chg="add mod">
          <ac:chgData name="Jocelyn Beavers" userId="885bbc2b4df2f46c" providerId="LiveId" clId="{5244EF33-E639-424C-AC2F-95731FBC8D9F}" dt="2026-03-22T02:46:38.636" v="2997" actId="255"/>
          <ac:spMkLst>
            <pc:docMk/>
            <pc:sldMk cId="369206720" sldId="259"/>
            <ac:spMk id="6" creationId="{8A06DF97-6AEB-FA3D-05A5-66B962210E43}"/>
          </ac:spMkLst>
        </pc:spChg>
        <pc:spChg chg="add mod">
          <ac:chgData name="Jocelyn Beavers" userId="885bbc2b4df2f46c" providerId="LiveId" clId="{5244EF33-E639-424C-AC2F-95731FBC8D9F}" dt="2026-03-22T02:47:13.662" v="3002" actId="1076"/>
          <ac:spMkLst>
            <pc:docMk/>
            <pc:sldMk cId="369206720" sldId="259"/>
            <ac:spMk id="7" creationId="{734B4A47-F58B-8A23-7608-FC2B44BE4BA2}"/>
          </ac:spMkLst>
        </pc:spChg>
        <pc:spChg chg="add mod">
          <ac:chgData name="Jocelyn Beavers" userId="885bbc2b4df2f46c" providerId="LiveId" clId="{5244EF33-E639-424C-AC2F-95731FBC8D9F}" dt="2026-03-22T02:47:31.380" v="3007" actId="1038"/>
          <ac:spMkLst>
            <pc:docMk/>
            <pc:sldMk cId="369206720" sldId="259"/>
            <ac:spMk id="8" creationId="{A0E05A3A-200C-6C2C-8253-E0D06E3E7C60}"/>
          </ac:spMkLst>
        </pc:spChg>
        <pc:spChg chg="add ord">
          <ac:chgData name="Jocelyn Beavers" userId="885bbc2b4df2f46c" providerId="LiveId" clId="{5244EF33-E639-424C-AC2F-95731FBC8D9F}" dt="2026-03-22T02:42:59.800" v="2945" actId="167"/>
          <ac:spMkLst>
            <pc:docMk/>
            <pc:sldMk cId="369206720" sldId="259"/>
            <ac:spMk id="9" creationId="{3BD2C6B6-E59A-7582-5C89-A458B20BF00E}"/>
          </ac:spMkLst>
        </pc:spChg>
        <pc:spChg chg="add mod ord">
          <ac:chgData name="Jocelyn Beavers" userId="885bbc2b4df2f46c" providerId="LiveId" clId="{5244EF33-E639-424C-AC2F-95731FBC8D9F}" dt="2026-03-22T02:43:38.433" v="2952" actId="167"/>
          <ac:spMkLst>
            <pc:docMk/>
            <pc:sldMk cId="369206720" sldId="259"/>
            <ac:spMk id="10" creationId="{602A9F39-7DC5-C082-8C2D-BB4BFA357953}"/>
          </ac:spMkLst>
        </pc:spChg>
        <pc:spChg chg="add mod ord">
          <ac:chgData name="Jocelyn Beavers" userId="885bbc2b4df2f46c" providerId="LiveId" clId="{5244EF33-E639-424C-AC2F-95731FBC8D9F}" dt="2026-03-22T02:43:42.549" v="2953" actId="167"/>
          <ac:spMkLst>
            <pc:docMk/>
            <pc:sldMk cId="369206720" sldId="259"/>
            <ac:spMk id="11" creationId="{0C1ADA69-9C2B-D90B-634E-9543633D7BFB}"/>
          </ac:spMkLst>
        </pc:spChg>
        <pc:spChg chg="add mod ord">
          <ac:chgData name="Jocelyn Beavers" userId="885bbc2b4df2f46c" providerId="LiveId" clId="{5244EF33-E639-424C-AC2F-95731FBC8D9F}" dt="2026-03-22T02:43:47.418" v="2954" actId="167"/>
          <ac:spMkLst>
            <pc:docMk/>
            <pc:sldMk cId="369206720" sldId="259"/>
            <ac:spMk id="12" creationId="{AE3FC92A-1338-2F44-34D9-56E91D2DAFF1}"/>
          </ac:spMkLst>
        </pc:spChg>
      </pc:sldChg>
      <pc:sldChg chg="addSp delSp modSp new mod modClrScheme chgLayout">
        <pc:chgData name="Jocelyn Beavers" userId="885bbc2b4df2f46c" providerId="LiveId" clId="{5244EF33-E639-424C-AC2F-95731FBC8D9F}" dt="2026-03-22T02:48:44.110" v="3014" actId="1076"/>
        <pc:sldMkLst>
          <pc:docMk/>
          <pc:sldMk cId="2220916475" sldId="260"/>
        </pc:sldMkLst>
        <pc:spChg chg="mod ord">
          <ac:chgData name="Jocelyn Beavers" userId="885bbc2b4df2f46c" providerId="LiveId" clId="{5244EF33-E639-424C-AC2F-95731FBC8D9F}" dt="2026-03-22T02:48:27.812" v="3010" actId="122"/>
          <ac:spMkLst>
            <pc:docMk/>
            <pc:sldMk cId="2220916475" sldId="260"/>
            <ac:spMk id="2" creationId="{E8A53345-A029-FA05-D46C-2C0F388D9EF8}"/>
          </ac:spMkLst>
        </pc:spChg>
        <pc:spChg chg="del mod ord">
          <ac:chgData name="Jocelyn Beavers" userId="885bbc2b4df2f46c" providerId="LiveId" clId="{5244EF33-E639-424C-AC2F-95731FBC8D9F}" dt="2026-03-22T01:45:56.574" v="1327" actId="700"/>
          <ac:spMkLst>
            <pc:docMk/>
            <pc:sldMk cId="2220916475" sldId="260"/>
            <ac:spMk id="3" creationId="{77BE5F0F-3AAF-12D1-1639-AB0BEF0998F4}"/>
          </ac:spMkLst>
        </pc:spChg>
        <pc:spChg chg="add del mod">
          <ac:chgData name="Jocelyn Beavers" userId="885bbc2b4df2f46c" providerId="LiveId" clId="{5244EF33-E639-424C-AC2F-95731FBC8D9F}" dt="2026-03-22T02:03:22.626" v="2289" actId="478"/>
          <ac:spMkLst>
            <pc:docMk/>
            <pc:sldMk cId="2220916475" sldId="260"/>
            <ac:spMk id="4" creationId="{53C9D54A-817D-2931-E6EE-107816DC133D}"/>
          </ac:spMkLst>
        </pc:spChg>
        <pc:spChg chg="add del mod ord">
          <ac:chgData name="Jocelyn Beavers" userId="885bbc2b4df2f46c" providerId="LiveId" clId="{5244EF33-E639-424C-AC2F-95731FBC8D9F}" dt="2026-03-22T01:48:04.383" v="1331" actId="478"/>
          <ac:spMkLst>
            <pc:docMk/>
            <pc:sldMk cId="2220916475" sldId="260"/>
            <ac:spMk id="5" creationId="{835F82D2-71B5-5945-1064-244478AFB1DA}"/>
          </ac:spMkLst>
        </pc:spChg>
        <pc:spChg chg="add del mod ord">
          <ac:chgData name="Jocelyn Beavers" userId="885bbc2b4df2f46c" providerId="LiveId" clId="{5244EF33-E639-424C-AC2F-95731FBC8D9F}" dt="2026-03-22T01:47:06.080" v="1330" actId="931"/>
          <ac:spMkLst>
            <pc:docMk/>
            <pc:sldMk cId="2220916475" sldId="260"/>
            <ac:spMk id="6" creationId="{1AFBD80F-0730-85C3-D680-1612CAE1E79E}"/>
          </ac:spMkLst>
        </pc:spChg>
        <pc:spChg chg="add del mod ord">
          <ac:chgData name="Jocelyn Beavers" userId="885bbc2b4df2f46c" providerId="LiveId" clId="{5244EF33-E639-424C-AC2F-95731FBC8D9F}" dt="2026-03-22T01:48:06.479" v="1332" actId="478"/>
          <ac:spMkLst>
            <pc:docMk/>
            <pc:sldMk cId="2220916475" sldId="260"/>
            <ac:spMk id="7" creationId="{995791FC-D5C3-E6B3-7AA5-DDCA32DB8A3A}"/>
          </ac:spMkLst>
        </pc:spChg>
        <pc:spChg chg="add del mod ord">
          <ac:chgData name="Jocelyn Beavers" userId="885bbc2b4df2f46c" providerId="LiveId" clId="{5244EF33-E639-424C-AC2F-95731FBC8D9F}" dt="2026-03-22T01:48:56.279" v="1335" actId="931"/>
          <ac:spMkLst>
            <pc:docMk/>
            <pc:sldMk cId="2220916475" sldId="260"/>
            <ac:spMk id="8" creationId="{867E2617-05E6-CCCF-847E-2ADD854E1E7F}"/>
          </ac:spMkLst>
        </pc:spChg>
        <pc:picChg chg="add del mod ord">
          <ac:chgData name="Jocelyn Beavers" userId="885bbc2b4df2f46c" providerId="LiveId" clId="{5244EF33-E639-424C-AC2F-95731FBC8D9F}" dt="2026-03-22T01:46:28.863" v="1329" actId="931"/>
          <ac:picMkLst>
            <pc:docMk/>
            <pc:sldMk cId="2220916475" sldId="260"/>
            <ac:picMk id="10" creationId="{2353D223-B297-CB8C-91E0-AA29F752309E}"/>
          </ac:picMkLst>
        </pc:picChg>
        <pc:picChg chg="add mod ord">
          <ac:chgData name="Jocelyn Beavers" userId="885bbc2b4df2f46c" providerId="LiveId" clId="{5244EF33-E639-424C-AC2F-95731FBC8D9F}" dt="2026-03-22T02:48:41.233" v="3013" actId="1076"/>
          <ac:picMkLst>
            <pc:docMk/>
            <pc:sldMk cId="2220916475" sldId="260"/>
            <ac:picMk id="12" creationId="{2B840EC7-3A16-AE3F-3FD4-23A771F79F04}"/>
          </ac:picMkLst>
        </pc:picChg>
        <pc:picChg chg="add mod ord">
          <ac:chgData name="Jocelyn Beavers" userId="885bbc2b4df2f46c" providerId="LiveId" clId="{5244EF33-E639-424C-AC2F-95731FBC8D9F}" dt="2026-03-22T02:48:44.110" v="3014" actId="1076"/>
          <ac:picMkLst>
            <pc:docMk/>
            <pc:sldMk cId="2220916475" sldId="260"/>
            <ac:picMk id="14" creationId="{8E5CC77D-A679-1E8E-8FCC-519D0D14A3B7}"/>
          </ac:picMkLst>
        </pc:picChg>
      </pc:sldChg>
      <pc:sldChg chg="addSp delSp modSp new mod modClrScheme chgLayout">
        <pc:chgData name="Jocelyn Beavers" userId="885bbc2b4df2f46c" providerId="LiveId" clId="{5244EF33-E639-424C-AC2F-95731FBC8D9F}" dt="2026-03-22T02:48:52.605" v="3015" actId="122"/>
        <pc:sldMkLst>
          <pc:docMk/>
          <pc:sldMk cId="3085020456" sldId="261"/>
        </pc:sldMkLst>
        <pc:spChg chg="mod ord">
          <ac:chgData name="Jocelyn Beavers" userId="885bbc2b4df2f46c" providerId="LiveId" clId="{5244EF33-E639-424C-AC2F-95731FBC8D9F}" dt="2026-03-22T02:48:52.605" v="3015" actId="122"/>
          <ac:spMkLst>
            <pc:docMk/>
            <pc:sldMk cId="3085020456" sldId="261"/>
            <ac:spMk id="2" creationId="{A3D09ADA-58B8-0FA8-14EC-5C8EBBC6F011}"/>
          </ac:spMkLst>
        </pc:spChg>
        <pc:spChg chg="del">
          <ac:chgData name="Jocelyn Beavers" userId="885bbc2b4df2f46c" providerId="LiveId" clId="{5244EF33-E639-424C-AC2F-95731FBC8D9F}" dt="2026-03-22T01:49:43.630" v="1357" actId="478"/>
          <ac:spMkLst>
            <pc:docMk/>
            <pc:sldMk cId="3085020456" sldId="261"/>
            <ac:spMk id="3" creationId="{0DCDD36E-F24A-D884-82A1-D8CE7C61247E}"/>
          </ac:spMkLst>
        </pc:spChg>
        <pc:spChg chg="del mod ord">
          <ac:chgData name="Jocelyn Beavers" userId="885bbc2b4df2f46c" providerId="LiveId" clId="{5244EF33-E639-424C-AC2F-95731FBC8D9F}" dt="2026-03-22T01:50:18.273" v="1359" actId="700"/>
          <ac:spMkLst>
            <pc:docMk/>
            <pc:sldMk cId="3085020456" sldId="261"/>
            <ac:spMk id="4" creationId="{6B823475-6931-AB89-BCAD-5B1D50B4FAC7}"/>
          </ac:spMkLst>
        </pc:spChg>
        <pc:spChg chg="del">
          <ac:chgData name="Jocelyn Beavers" userId="885bbc2b4df2f46c" providerId="LiveId" clId="{5244EF33-E639-424C-AC2F-95731FBC8D9F}" dt="2026-03-22T01:49:45.721" v="1358" actId="478"/>
          <ac:spMkLst>
            <pc:docMk/>
            <pc:sldMk cId="3085020456" sldId="261"/>
            <ac:spMk id="5" creationId="{ACBD425C-9B82-1B22-48E4-1A0D1693BEE4}"/>
          </ac:spMkLst>
        </pc:spChg>
        <pc:spChg chg="del mod ord">
          <ac:chgData name="Jocelyn Beavers" userId="885bbc2b4df2f46c" providerId="LiveId" clId="{5244EF33-E639-424C-AC2F-95731FBC8D9F}" dt="2026-03-22T01:50:18.273" v="1359" actId="700"/>
          <ac:spMkLst>
            <pc:docMk/>
            <pc:sldMk cId="3085020456" sldId="261"/>
            <ac:spMk id="6" creationId="{472BC43E-EC9D-724C-04E5-9F505EA85C5A}"/>
          </ac:spMkLst>
        </pc:spChg>
        <pc:spChg chg="add del mod ord">
          <ac:chgData name="Jocelyn Beavers" userId="885bbc2b4df2f46c" providerId="LiveId" clId="{5244EF33-E639-424C-AC2F-95731FBC8D9F}" dt="2026-03-22T01:50:32.668" v="1360" actId="931"/>
          <ac:spMkLst>
            <pc:docMk/>
            <pc:sldMk cId="3085020456" sldId="261"/>
            <ac:spMk id="7" creationId="{DDA8D75A-B244-E0AB-F1BD-80E1636E0AA1}"/>
          </ac:spMkLst>
        </pc:spChg>
        <pc:spChg chg="add del mod ord">
          <ac:chgData name="Jocelyn Beavers" userId="885bbc2b4df2f46c" providerId="LiveId" clId="{5244EF33-E639-424C-AC2F-95731FBC8D9F}" dt="2026-03-22T01:50:54.529" v="1363" actId="931"/>
          <ac:spMkLst>
            <pc:docMk/>
            <pc:sldMk cId="3085020456" sldId="261"/>
            <ac:spMk id="8" creationId="{963323CE-D7C8-706E-3B1A-072C5D999457}"/>
          </ac:spMkLst>
        </pc:spChg>
        <pc:spChg chg="add del mod">
          <ac:chgData name="Jocelyn Beavers" userId="885bbc2b4df2f46c" providerId="LiveId" clId="{5244EF33-E639-424C-AC2F-95731FBC8D9F}" dt="2026-03-22T01:50:47.149" v="1362" actId="931"/>
          <ac:spMkLst>
            <pc:docMk/>
            <pc:sldMk cId="3085020456" sldId="261"/>
            <ac:spMk id="12" creationId="{01CBC6AB-77E1-1BC0-AD4F-46326FB30BD7}"/>
          </ac:spMkLst>
        </pc:spChg>
        <pc:picChg chg="add del mod ord">
          <ac:chgData name="Jocelyn Beavers" userId="885bbc2b4df2f46c" providerId="LiveId" clId="{5244EF33-E639-424C-AC2F-95731FBC8D9F}" dt="2026-03-22T01:50:34.926" v="1361" actId="478"/>
          <ac:picMkLst>
            <pc:docMk/>
            <pc:sldMk cId="3085020456" sldId="261"/>
            <ac:picMk id="10" creationId="{32DDBF1F-DAEB-74D8-8112-E0DAEB238B59}"/>
          </ac:picMkLst>
        </pc:picChg>
        <pc:picChg chg="add mod ord">
          <ac:chgData name="Jocelyn Beavers" userId="885bbc2b4df2f46c" providerId="LiveId" clId="{5244EF33-E639-424C-AC2F-95731FBC8D9F}" dt="2026-03-22T01:51:48.666" v="1368" actId="1076"/>
          <ac:picMkLst>
            <pc:docMk/>
            <pc:sldMk cId="3085020456" sldId="261"/>
            <ac:picMk id="14" creationId="{13EDDF97-D52C-6A7F-9D10-491071D56A56}"/>
          </ac:picMkLst>
        </pc:picChg>
        <pc:picChg chg="add mod ord">
          <ac:chgData name="Jocelyn Beavers" userId="885bbc2b4df2f46c" providerId="LiveId" clId="{5244EF33-E639-424C-AC2F-95731FBC8D9F}" dt="2026-03-22T01:51:51.684" v="1369" actId="14100"/>
          <ac:picMkLst>
            <pc:docMk/>
            <pc:sldMk cId="3085020456" sldId="261"/>
            <ac:picMk id="16" creationId="{D3046C03-ED40-B83F-6297-32E458E13EC6}"/>
          </ac:picMkLst>
        </pc:picChg>
      </pc:sldChg>
      <pc:sldChg chg="addSp delSp modSp new mod modClrScheme chgLayout">
        <pc:chgData name="Jocelyn Beavers" userId="885bbc2b4df2f46c" providerId="LiveId" clId="{5244EF33-E639-424C-AC2F-95731FBC8D9F}" dt="2026-03-22T02:50:33.718" v="3045" actId="1076"/>
        <pc:sldMkLst>
          <pc:docMk/>
          <pc:sldMk cId="2083356787" sldId="262"/>
        </pc:sldMkLst>
        <pc:spChg chg="del mod ord">
          <ac:chgData name="Jocelyn Beavers" userId="885bbc2b4df2f46c" providerId="LiveId" clId="{5244EF33-E639-424C-AC2F-95731FBC8D9F}" dt="2026-03-22T01:52:26.659" v="1371" actId="700"/>
          <ac:spMkLst>
            <pc:docMk/>
            <pc:sldMk cId="2083356787" sldId="262"/>
            <ac:spMk id="2" creationId="{38CFCBC7-E25E-462A-5787-865972CFA6CA}"/>
          </ac:spMkLst>
        </pc:spChg>
        <pc:spChg chg="del mod ord">
          <ac:chgData name="Jocelyn Beavers" userId="885bbc2b4df2f46c" providerId="LiveId" clId="{5244EF33-E639-424C-AC2F-95731FBC8D9F}" dt="2026-03-22T01:52:26.659" v="1371" actId="700"/>
          <ac:spMkLst>
            <pc:docMk/>
            <pc:sldMk cId="2083356787" sldId="262"/>
            <ac:spMk id="3" creationId="{AD238DC3-E01F-D262-CFEB-66D7BA8B3A39}"/>
          </ac:spMkLst>
        </pc:spChg>
        <pc:spChg chg="del mod ord">
          <ac:chgData name="Jocelyn Beavers" userId="885bbc2b4df2f46c" providerId="LiveId" clId="{5244EF33-E639-424C-AC2F-95731FBC8D9F}" dt="2026-03-22T01:52:26.659" v="1371" actId="700"/>
          <ac:spMkLst>
            <pc:docMk/>
            <pc:sldMk cId="2083356787" sldId="262"/>
            <ac:spMk id="4" creationId="{A64E0EFD-4CEF-96D1-30A9-0D3F8E841672}"/>
          </ac:spMkLst>
        </pc:spChg>
        <pc:spChg chg="add mod ord">
          <ac:chgData name="Jocelyn Beavers" userId="885bbc2b4df2f46c" providerId="LiveId" clId="{5244EF33-E639-424C-AC2F-95731FBC8D9F}" dt="2026-03-22T02:49:13.895" v="3017" actId="122"/>
          <ac:spMkLst>
            <pc:docMk/>
            <pc:sldMk cId="2083356787" sldId="262"/>
            <ac:spMk id="5" creationId="{62488656-D5DC-5DBD-D300-654B231050BC}"/>
          </ac:spMkLst>
        </pc:spChg>
        <pc:spChg chg="add mod ord">
          <ac:chgData name="Jocelyn Beavers" userId="885bbc2b4df2f46c" providerId="LiveId" clId="{5244EF33-E639-424C-AC2F-95731FBC8D9F}" dt="2026-03-22T02:49:54.063" v="3020" actId="1076"/>
          <ac:spMkLst>
            <pc:docMk/>
            <pc:sldMk cId="2083356787" sldId="262"/>
            <ac:spMk id="6" creationId="{8FCDA249-8EDB-59BA-FF42-4AAB42659619}"/>
          </ac:spMkLst>
        </pc:spChg>
        <pc:spChg chg="add mod ord">
          <ac:chgData name="Jocelyn Beavers" userId="885bbc2b4df2f46c" providerId="LiveId" clId="{5244EF33-E639-424C-AC2F-95731FBC8D9F}" dt="2026-03-22T02:41:23.820" v="2934" actId="27636"/>
          <ac:spMkLst>
            <pc:docMk/>
            <pc:sldMk cId="2083356787" sldId="262"/>
            <ac:spMk id="7" creationId="{D7E3893A-E461-6D9E-E908-2C96DEC8AC57}"/>
          </ac:spMkLst>
        </pc:spChg>
        <pc:spChg chg="add mod ord">
          <ac:chgData name="Jocelyn Beavers" userId="885bbc2b4df2f46c" providerId="LiveId" clId="{5244EF33-E639-424C-AC2F-95731FBC8D9F}" dt="2026-03-22T02:50:20.898" v="3044" actId="1076"/>
          <ac:spMkLst>
            <pc:docMk/>
            <pc:sldMk cId="2083356787" sldId="262"/>
            <ac:spMk id="8" creationId="{E65C67BD-FE81-8649-F2A7-7FA7BE4601DF}"/>
          </ac:spMkLst>
        </pc:spChg>
        <pc:spChg chg="add mod ord">
          <ac:chgData name="Jocelyn Beavers" userId="885bbc2b4df2f46c" providerId="LiveId" clId="{5244EF33-E639-424C-AC2F-95731FBC8D9F}" dt="2026-03-22T02:50:33.718" v="3045" actId="1076"/>
          <ac:spMkLst>
            <pc:docMk/>
            <pc:sldMk cId="2083356787" sldId="262"/>
            <ac:spMk id="9" creationId="{53B7499F-DE71-C28E-74E0-FFD99C886209}"/>
          </ac:spMkLst>
        </pc:spChg>
        <pc:spChg chg="add del mod">
          <ac:chgData name="Jocelyn Beavers" userId="885bbc2b4df2f46c" providerId="LiveId" clId="{5244EF33-E639-424C-AC2F-95731FBC8D9F}" dt="2026-03-22T02:05:12.263" v="2307"/>
          <ac:spMkLst>
            <pc:docMk/>
            <pc:sldMk cId="2083356787" sldId="262"/>
            <ac:spMk id="10" creationId="{C7A90862-9FA9-971A-E5B9-B9ED278958B6}"/>
          </ac:spMkLst>
        </pc:spChg>
        <pc:spChg chg="add mod">
          <ac:chgData name="Jocelyn Beavers" userId="885bbc2b4df2f46c" providerId="LiveId" clId="{5244EF33-E639-424C-AC2F-95731FBC8D9F}" dt="2026-03-22T02:49:04.940" v="3016" actId="313"/>
          <ac:spMkLst>
            <pc:docMk/>
            <pc:sldMk cId="2083356787" sldId="262"/>
            <ac:spMk id="11" creationId="{A388F717-58EB-2D61-597E-7C096DA5E24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33587-EB28-4DF3-9B34-1394E78E8E88}"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B63E2B-F8EB-4C27-9729-1BB947623C23}" type="slidenum">
              <a:rPr lang="en-US" smtClean="0"/>
              <a:t>‹#›</a:t>
            </a:fld>
            <a:endParaRPr lang="en-US"/>
          </a:p>
        </p:txBody>
      </p:sp>
    </p:spTree>
    <p:extLst>
      <p:ext uri="{BB962C8B-B14F-4D97-AF65-F5344CB8AC3E}">
        <p14:creationId xmlns:p14="http://schemas.microsoft.com/office/powerpoint/2010/main" val="12538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rapid growth of AI, cloud computing, and hyperscale data centers is exploding energy demand. These massive facilities require constant electricity, which often comes from natural gas. Understanding price volatility is critical for companies to manage energy supply, trading exposure, and operational risk.</a:t>
            </a:r>
            <a:endParaRPr lang="en-US" dirty="0"/>
          </a:p>
        </p:txBody>
      </p:sp>
      <p:sp>
        <p:nvSpPr>
          <p:cNvPr id="4" name="Slide Number Placeholder 3"/>
          <p:cNvSpPr>
            <a:spLocks noGrp="1"/>
          </p:cNvSpPr>
          <p:nvPr>
            <p:ph type="sldNum" sz="quarter" idx="5"/>
          </p:nvPr>
        </p:nvSpPr>
        <p:spPr/>
        <p:txBody>
          <a:bodyPr/>
          <a:lstStyle/>
          <a:p>
            <a:fld id="{E6B63E2B-F8EB-4C27-9729-1BB947623C23}" type="slidenum">
              <a:rPr lang="en-US" smtClean="0"/>
              <a:t>2</a:t>
            </a:fld>
            <a:endParaRPr lang="en-US"/>
          </a:p>
        </p:txBody>
      </p:sp>
    </p:spTree>
    <p:extLst>
      <p:ext uri="{BB962C8B-B14F-4D97-AF65-F5344CB8AC3E}">
        <p14:creationId xmlns:p14="http://schemas.microsoft.com/office/powerpoint/2010/main" val="36430731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1430AE1B-1681-430B-9850-8F061546335E}" type="datetimeFigureOut">
              <a:rPr lang="en-US" smtClean="0"/>
              <a:t>3/19/2026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2062726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0AE1B-1681-430B-9850-8F061546335E}"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3675795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0AE1B-1681-430B-9850-8F061546335E}"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3426823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30AE1B-1681-430B-9850-8F061546335E}"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2397371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30AE1B-1681-430B-9850-8F061546335E}" type="datetimeFigureOut">
              <a:rPr lang="en-US" smtClean="0"/>
              <a:t>3/19/2026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1958630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30AE1B-1681-430B-9850-8F061546335E}" type="datetimeFigureOut">
              <a:rPr lang="en-US" smtClean="0"/>
              <a:t>3/19/2026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1999990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30AE1B-1681-430B-9850-8F061546335E}" type="datetimeFigureOut">
              <a:rPr lang="en-US" smtClean="0"/>
              <a:t>3/19/2026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2340815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0AE1B-1681-430B-9850-8F061546335E}"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1573316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0AE1B-1681-430B-9850-8F061546335E}"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869700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0AE1B-1681-430B-9850-8F061546335E}"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1791979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0AE1B-1681-430B-9850-8F061546335E}"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20694543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0AE1B-1681-430B-9850-8F061546335E}"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8E662B-2DEE-4D9C-94E4-83AD8115660A}"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91545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0AE1B-1681-430B-9850-8F061546335E}" type="datetimeFigureOut">
              <a:rPr lang="en-US" smtClean="0"/>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3880919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30AE1B-1681-430B-9850-8F061546335E}" type="datetimeFigureOut">
              <a:rPr lang="en-US" smtClean="0"/>
              <a:t>3/19/2026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813294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30AE1B-1681-430B-9850-8F061546335E}" type="datetimeFigureOut">
              <a:rPr lang="en-US" smtClean="0"/>
              <a:t>3/19/2026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20980076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0AE1B-1681-430B-9850-8F061546335E}"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3079725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0AE1B-1681-430B-9850-8F061546335E}" type="datetimeFigureOut">
              <a:rPr lang="en-US" smtClean="0"/>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8E662B-2DEE-4D9C-94E4-83AD8115660A}" type="slidenum">
              <a:rPr lang="en-US" smtClean="0"/>
              <a:t>‹#›</a:t>
            </a:fld>
            <a:endParaRPr lang="en-US"/>
          </a:p>
        </p:txBody>
      </p:sp>
    </p:spTree>
    <p:extLst>
      <p:ext uri="{BB962C8B-B14F-4D97-AF65-F5344CB8AC3E}">
        <p14:creationId xmlns:p14="http://schemas.microsoft.com/office/powerpoint/2010/main" val="631890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430AE1B-1681-430B-9850-8F061546335E}" type="datetimeFigureOut">
              <a:rPr lang="en-US" smtClean="0"/>
              <a:t>3/19/2026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08E662B-2DEE-4D9C-94E4-83AD8115660A}" type="slidenum">
              <a:rPr lang="en-US" smtClean="0"/>
              <a:t>‹#›</a:t>
            </a:fld>
            <a:endParaRPr lang="en-US"/>
          </a:p>
        </p:txBody>
      </p:sp>
    </p:spTree>
    <p:extLst>
      <p:ext uri="{BB962C8B-B14F-4D97-AF65-F5344CB8AC3E}">
        <p14:creationId xmlns:p14="http://schemas.microsoft.com/office/powerpoint/2010/main" val="3536842238"/>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12915-AABC-1B21-A2AA-011C356CE346}"/>
              </a:ext>
            </a:extLst>
          </p:cNvPr>
          <p:cNvSpPr>
            <a:spLocks noGrp="1"/>
          </p:cNvSpPr>
          <p:nvPr>
            <p:ph type="ctrTitle"/>
          </p:nvPr>
        </p:nvSpPr>
        <p:spPr>
          <a:xfrm>
            <a:off x="2001552" y="737021"/>
            <a:ext cx="9538177" cy="828640"/>
          </a:xfrm>
        </p:spPr>
        <p:txBody>
          <a:bodyPr>
            <a:normAutofit/>
          </a:bodyPr>
          <a:lstStyle/>
          <a:p>
            <a:pPr algn="l"/>
            <a:r>
              <a:rPr lang="en-US" sz="4800" dirty="0"/>
              <a:t>Natural Gas Price Volatility</a:t>
            </a:r>
          </a:p>
        </p:txBody>
      </p:sp>
      <p:sp>
        <p:nvSpPr>
          <p:cNvPr id="3" name="Subtitle 2">
            <a:extLst>
              <a:ext uri="{FF2B5EF4-FFF2-40B4-BE49-F238E27FC236}">
                <a16:creationId xmlns:a16="http://schemas.microsoft.com/office/drawing/2014/main" id="{6BE9599F-BB99-4BF0-B35B-55E8D0790B3E}"/>
              </a:ext>
            </a:extLst>
          </p:cNvPr>
          <p:cNvSpPr>
            <a:spLocks noGrp="1"/>
          </p:cNvSpPr>
          <p:nvPr>
            <p:ph type="subTitle" idx="1"/>
          </p:nvPr>
        </p:nvSpPr>
        <p:spPr>
          <a:xfrm>
            <a:off x="2295910" y="1518907"/>
            <a:ext cx="4956469" cy="488699"/>
          </a:xfrm>
        </p:spPr>
        <p:txBody>
          <a:bodyPr>
            <a:normAutofit fontScale="85000" lnSpcReduction="10000"/>
          </a:bodyPr>
          <a:lstStyle/>
          <a:p>
            <a:pPr algn="l"/>
            <a:r>
              <a:rPr lang="en-US" dirty="0"/>
              <a:t>A Market Risk &amp; Trading Exposure Case Study</a:t>
            </a:r>
          </a:p>
        </p:txBody>
      </p:sp>
      <p:sp>
        <p:nvSpPr>
          <p:cNvPr id="4" name="TextBox 3">
            <a:extLst>
              <a:ext uri="{FF2B5EF4-FFF2-40B4-BE49-F238E27FC236}">
                <a16:creationId xmlns:a16="http://schemas.microsoft.com/office/drawing/2014/main" id="{D732CC01-DF64-FD05-9B84-17541CF1D40A}"/>
              </a:ext>
            </a:extLst>
          </p:cNvPr>
          <p:cNvSpPr txBox="1"/>
          <p:nvPr/>
        </p:nvSpPr>
        <p:spPr>
          <a:xfrm>
            <a:off x="2345330" y="3422482"/>
            <a:ext cx="8732172" cy="646331"/>
          </a:xfrm>
          <a:prstGeom prst="rect">
            <a:avLst/>
          </a:prstGeom>
          <a:noFill/>
        </p:spPr>
        <p:txBody>
          <a:bodyPr wrap="square" rtlCol="0">
            <a:spAutoFit/>
          </a:bodyPr>
          <a:lstStyle/>
          <a:p>
            <a:r>
              <a:rPr lang="en-US" dirty="0"/>
              <a:t>Analyzing 20+ years of Henry Hub pricing data to uncover volatility patterns, seasonal risk, and trading implications.</a:t>
            </a:r>
          </a:p>
        </p:txBody>
      </p:sp>
      <p:sp>
        <p:nvSpPr>
          <p:cNvPr id="5" name="TextBox 4">
            <a:extLst>
              <a:ext uri="{FF2B5EF4-FFF2-40B4-BE49-F238E27FC236}">
                <a16:creationId xmlns:a16="http://schemas.microsoft.com/office/drawing/2014/main" id="{A84C66A4-C2C6-FC14-3887-EABD198A59DF}"/>
              </a:ext>
            </a:extLst>
          </p:cNvPr>
          <p:cNvSpPr txBox="1"/>
          <p:nvPr/>
        </p:nvSpPr>
        <p:spPr>
          <a:xfrm>
            <a:off x="5528280" y="6345058"/>
            <a:ext cx="7273320" cy="369332"/>
          </a:xfrm>
          <a:prstGeom prst="rect">
            <a:avLst/>
          </a:prstGeom>
          <a:noFill/>
        </p:spPr>
        <p:txBody>
          <a:bodyPr wrap="square" rtlCol="0">
            <a:spAutoFit/>
          </a:bodyPr>
          <a:lstStyle/>
          <a:p>
            <a:r>
              <a:rPr lang="en-US" dirty="0"/>
              <a:t>Jocelyn Beavers | Expand Energy - Middle Office Analyst Candidate</a:t>
            </a:r>
          </a:p>
        </p:txBody>
      </p:sp>
    </p:spTree>
    <p:extLst>
      <p:ext uri="{BB962C8B-B14F-4D97-AF65-F5344CB8AC3E}">
        <p14:creationId xmlns:p14="http://schemas.microsoft.com/office/powerpoint/2010/main" val="2809005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63EF3-DE40-901E-F464-0BBF4D194347}"/>
              </a:ext>
            </a:extLst>
          </p:cNvPr>
          <p:cNvSpPr>
            <a:spLocks noGrp="1"/>
          </p:cNvSpPr>
          <p:nvPr>
            <p:ph type="title"/>
          </p:nvPr>
        </p:nvSpPr>
        <p:spPr>
          <a:xfrm>
            <a:off x="1459434" y="291939"/>
            <a:ext cx="3747760" cy="842441"/>
          </a:xfrm>
        </p:spPr>
        <p:txBody>
          <a:bodyPr/>
          <a:lstStyle/>
          <a:p>
            <a:pPr algn="l"/>
            <a:r>
              <a:rPr lang="en-US" dirty="0"/>
              <a:t>The Problem</a:t>
            </a:r>
          </a:p>
        </p:txBody>
      </p:sp>
      <p:sp>
        <p:nvSpPr>
          <p:cNvPr id="4" name="TextBox 3">
            <a:extLst>
              <a:ext uri="{FF2B5EF4-FFF2-40B4-BE49-F238E27FC236}">
                <a16:creationId xmlns:a16="http://schemas.microsoft.com/office/drawing/2014/main" id="{C7728F4F-A1C4-D67E-29D0-65F0F9B0D614}"/>
              </a:ext>
            </a:extLst>
          </p:cNvPr>
          <p:cNvSpPr txBox="1"/>
          <p:nvPr/>
        </p:nvSpPr>
        <p:spPr>
          <a:xfrm>
            <a:off x="1459434" y="1082523"/>
            <a:ext cx="6603225" cy="923330"/>
          </a:xfrm>
          <a:prstGeom prst="rect">
            <a:avLst/>
          </a:prstGeom>
          <a:noFill/>
        </p:spPr>
        <p:txBody>
          <a:bodyPr wrap="square" rtlCol="0">
            <a:spAutoFit/>
          </a:bodyPr>
          <a:lstStyle/>
          <a:p>
            <a:r>
              <a:rPr lang="en-US" dirty="0"/>
              <a:t>Why Natural Gas Prices Volatility Require Constant Analysis</a:t>
            </a:r>
          </a:p>
          <a:p>
            <a:endParaRPr lang="en-US" dirty="0"/>
          </a:p>
          <a:p>
            <a:endParaRPr lang="en-US" dirty="0"/>
          </a:p>
        </p:txBody>
      </p:sp>
      <p:sp>
        <p:nvSpPr>
          <p:cNvPr id="9" name="Content Placeholder 2">
            <a:extLst>
              <a:ext uri="{FF2B5EF4-FFF2-40B4-BE49-F238E27FC236}">
                <a16:creationId xmlns:a16="http://schemas.microsoft.com/office/drawing/2014/main" id="{2C896DE3-7D7D-045E-C1B0-F161B2457E98}"/>
              </a:ext>
            </a:extLst>
          </p:cNvPr>
          <p:cNvSpPr txBox="1">
            <a:spLocks/>
          </p:cNvSpPr>
          <p:nvPr/>
        </p:nvSpPr>
        <p:spPr>
          <a:xfrm>
            <a:off x="4613882" y="1802828"/>
            <a:ext cx="3231810" cy="4396932"/>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bg2"/>
                </a:solidFill>
              </a:rPr>
              <a:t>Trading Risks</a:t>
            </a:r>
          </a:p>
        </p:txBody>
      </p:sp>
      <p:sp>
        <p:nvSpPr>
          <p:cNvPr id="10" name="Content Placeholder 2">
            <a:extLst>
              <a:ext uri="{FF2B5EF4-FFF2-40B4-BE49-F238E27FC236}">
                <a16:creationId xmlns:a16="http://schemas.microsoft.com/office/drawing/2014/main" id="{D7A0857F-B00F-AA01-773F-44CF76EF6B9D}"/>
              </a:ext>
            </a:extLst>
          </p:cNvPr>
          <p:cNvSpPr txBox="1">
            <a:spLocks/>
          </p:cNvSpPr>
          <p:nvPr/>
        </p:nvSpPr>
        <p:spPr>
          <a:xfrm>
            <a:off x="8027177" y="1780031"/>
            <a:ext cx="3168408" cy="4396932"/>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bg2"/>
                </a:solidFill>
              </a:rPr>
              <a:t>Operational Risk</a:t>
            </a:r>
          </a:p>
        </p:txBody>
      </p:sp>
      <p:sp>
        <p:nvSpPr>
          <p:cNvPr id="12" name="Content Placeholder 2">
            <a:extLst>
              <a:ext uri="{FF2B5EF4-FFF2-40B4-BE49-F238E27FC236}">
                <a16:creationId xmlns:a16="http://schemas.microsoft.com/office/drawing/2014/main" id="{B5347A0D-25CE-245B-E552-AC4230C47200}"/>
              </a:ext>
            </a:extLst>
          </p:cNvPr>
          <p:cNvSpPr txBox="1">
            <a:spLocks/>
          </p:cNvSpPr>
          <p:nvPr/>
        </p:nvSpPr>
        <p:spPr>
          <a:xfrm>
            <a:off x="1129623" y="1800949"/>
            <a:ext cx="3231810" cy="4396932"/>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solidFill>
                  <a:schemeClr val="bg2"/>
                </a:solidFill>
              </a:rPr>
              <a:t>Energy Demand Surge</a:t>
            </a:r>
          </a:p>
          <a:p>
            <a:pPr marL="0" indent="0" algn="ctr">
              <a:buNone/>
            </a:pPr>
            <a:endParaRPr lang="en-US" dirty="0">
              <a:solidFill>
                <a:schemeClr val="tx2">
                  <a:lumMod val="10000"/>
                </a:schemeClr>
              </a:solidFill>
            </a:endParaRPr>
          </a:p>
          <a:p>
            <a:pPr marL="0" indent="0" algn="ctr">
              <a:buNone/>
            </a:pPr>
            <a:endParaRPr lang="en-US" dirty="0">
              <a:solidFill>
                <a:schemeClr val="tx2">
                  <a:lumMod val="10000"/>
                </a:schemeClr>
              </a:solidFill>
            </a:endParaRPr>
          </a:p>
        </p:txBody>
      </p:sp>
      <p:sp>
        <p:nvSpPr>
          <p:cNvPr id="15" name="TextBox 14">
            <a:extLst>
              <a:ext uri="{FF2B5EF4-FFF2-40B4-BE49-F238E27FC236}">
                <a16:creationId xmlns:a16="http://schemas.microsoft.com/office/drawing/2014/main" id="{BAB66A96-C985-4B4A-BE2F-EFF681294580}"/>
              </a:ext>
            </a:extLst>
          </p:cNvPr>
          <p:cNvSpPr txBox="1"/>
          <p:nvPr/>
        </p:nvSpPr>
        <p:spPr>
          <a:xfrm>
            <a:off x="1326230" y="3134087"/>
            <a:ext cx="2875822" cy="1477328"/>
          </a:xfrm>
          <a:prstGeom prst="rect">
            <a:avLst/>
          </a:prstGeom>
          <a:noFill/>
        </p:spPr>
        <p:txBody>
          <a:bodyPr wrap="square" rtlCol="0">
            <a:spAutoFit/>
          </a:bodyPr>
          <a:lstStyle/>
          <a:p>
            <a:r>
              <a:rPr kumimoji="0" lang="en-US" sz="1500" b="0" i="0" u="none" strike="noStrike" kern="1200" cap="none" spc="0" normalizeH="0" baseline="0" noProof="0" dirty="0">
                <a:ln>
                  <a:noFill/>
                </a:ln>
                <a:solidFill>
                  <a:schemeClr val="bg2"/>
                </a:solidFill>
                <a:effectLst/>
                <a:uLnTx/>
                <a:uFillTx/>
                <a:ea typeface="+mn-ea"/>
                <a:cs typeface="+mn-cs"/>
              </a:rPr>
              <a:t>The rapid growth of AI, cloud computing, and hyperscale data centers is exploding energy demand. These massive facilities require constant electricity, which often comes from natural gas</a:t>
            </a:r>
            <a:endParaRPr lang="en-US" sz="1500" dirty="0">
              <a:solidFill>
                <a:schemeClr val="bg2"/>
              </a:solidFill>
            </a:endParaRPr>
          </a:p>
        </p:txBody>
      </p:sp>
      <p:sp>
        <p:nvSpPr>
          <p:cNvPr id="16" name="TextBox 15">
            <a:extLst>
              <a:ext uri="{FF2B5EF4-FFF2-40B4-BE49-F238E27FC236}">
                <a16:creationId xmlns:a16="http://schemas.microsoft.com/office/drawing/2014/main" id="{8B56DF35-C2C8-1652-3E41-587285EA5AB2}"/>
              </a:ext>
            </a:extLst>
          </p:cNvPr>
          <p:cNvSpPr txBox="1"/>
          <p:nvPr/>
        </p:nvSpPr>
        <p:spPr>
          <a:xfrm>
            <a:off x="4934968" y="3134087"/>
            <a:ext cx="2360455" cy="1477328"/>
          </a:xfrm>
          <a:prstGeom prst="rect">
            <a:avLst/>
          </a:prstGeom>
          <a:noFill/>
        </p:spPr>
        <p:txBody>
          <a:bodyPr wrap="square" rtlCol="0">
            <a:spAutoFit/>
          </a:bodyPr>
          <a:lstStyle/>
          <a:p>
            <a:r>
              <a:rPr lang="en-US" sz="1500" dirty="0">
                <a:solidFill>
                  <a:schemeClr val="bg2"/>
                </a:solidFill>
              </a:rPr>
              <a:t>Natural gas prices can swing 40% in a single month. Without visibility into volatility patterns trading can face unmanaged market to market losses. </a:t>
            </a:r>
          </a:p>
        </p:txBody>
      </p:sp>
      <p:sp>
        <p:nvSpPr>
          <p:cNvPr id="17" name="TextBox 16">
            <a:extLst>
              <a:ext uri="{FF2B5EF4-FFF2-40B4-BE49-F238E27FC236}">
                <a16:creationId xmlns:a16="http://schemas.microsoft.com/office/drawing/2014/main" id="{5AF3C0BB-DB33-D2B2-EDAA-21C929353F6B}"/>
              </a:ext>
            </a:extLst>
          </p:cNvPr>
          <p:cNvSpPr txBox="1"/>
          <p:nvPr/>
        </p:nvSpPr>
        <p:spPr>
          <a:xfrm>
            <a:off x="8271480" y="3134086"/>
            <a:ext cx="2594289" cy="1246495"/>
          </a:xfrm>
          <a:prstGeom prst="rect">
            <a:avLst/>
          </a:prstGeom>
          <a:noFill/>
        </p:spPr>
        <p:txBody>
          <a:bodyPr wrap="square" rtlCol="0">
            <a:spAutoFit/>
          </a:bodyPr>
          <a:lstStyle/>
          <a:p>
            <a:r>
              <a:rPr lang="en-US" sz="1500" dirty="0">
                <a:solidFill>
                  <a:schemeClr val="bg2"/>
                </a:solidFill>
              </a:rPr>
              <a:t>Risk, credit and trade control functions depend on accurate, timely market data to monitor counterparty exposure and enforce position limits. </a:t>
            </a:r>
          </a:p>
        </p:txBody>
      </p:sp>
    </p:spTree>
    <p:extLst>
      <p:ext uri="{BB962C8B-B14F-4D97-AF65-F5344CB8AC3E}">
        <p14:creationId xmlns:p14="http://schemas.microsoft.com/office/powerpoint/2010/main" val="3040096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03432-4B85-6710-0D22-EC9B4F8BF7A6}"/>
              </a:ext>
            </a:extLst>
          </p:cNvPr>
          <p:cNvSpPr>
            <a:spLocks noGrp="1"/>
          </p:cNvSpPr>
          <p:nvPr>
            <p:ph type="title"/>
          </p:nvPr>
        </p:nvSpPr>
        <p:spPr>
          <a:xfrm>
            <a:off x="1633354" y="836199"/>
            <a:ext cx="3238209" cy="660957"/>
          </a:xfrm>
        </p:spPr>
        <p:txBody>
          <a:bodyPr>
            <a:normAutofit/>
          </a:bodyPr>
          <a:lstStyle/>
          <a:p>
            <a:pPr algn="l"/>
            <a:r>
              <a:rPr lang="en-US" dirty="0"/>
              <a:t>The Approach</a:t>
            </a:r>
          </a:p>
        </p:txBody>
      </p:sp>
      <p:sp>
        <p:nvSpPr>
          <p:cNvPr id="3" name="Content Placeholder 2">
            <a:extLst>
              <a:ext uri="{FF2B5EF4-FFF2-40B4-BE49-F238E27FC236}">
                <a16:creationId xmlns:a16="http://schemas.microsoft.com/office/drawing/2014/main" id="{116C3920-AA6B-28DD-AFEB-690D9651DAA8}"/>
              </a:ext>
            </a:extLst>
          </p:cNvPr>
          <p:cNvSpPr>
            <a:spLocks noGrp="1"/>
          </p:cNvSpPr>
          <p:nvPr>
            <p:ph idx="1"/>
          </p:nvPr>
        </p:nvSpPr>
        <p:spPr>
          <a:xfrm>
            <a:off x="1326229" y="3227783"/>
            <a:ext cx="5353777" cy="2596209"/>
          </a:xfrm>
        </p:spPr>
        <p:txBody>
          <a:bodyPr>
            <a:normAutofit/>
          </a:bodyPr>
          <a:lstStyle/>
          <a:p>
            <a:r>
              <a:rPr lang="en-US" sz="1800" dirty="0"/>
              <a:t>U.S EIA – Henry Hub Natural Gas Spot Price                   </a:t>
            </a:r>
            <a:r>
              <a:rPr lang="en-US" sz="1300" dirty="0"/>
              <a:t>data &amp; monthly data, 2000-2024 (20+ years)</a:t>
            </a:r>
            <a:endParaRPr lang="en-US" dirty="0"/>
          </a:p>
          <a:p>
            <a:r>
              <a:rPr lang="en-US" sz="1800" dirty="0"/>
              <a:t>Coverage: 6k + Daily Observations                   </a:t>
            </a:r>
            <a:r>
              <a:rPr lang="en-US" sz="1300" dirty="0"/>
              <a:t>Format: CSV -&gt; SQL -&gt; Excel -&gt; Tableau</a:t>
            </a:r>
          </a:p>
        </p:txBody>
      </p:sp>
      <p:sp>
        <p:nvSpPr>
          <p:cNvPr id="4" name="TextBox 3">
            <a:extLst>
              <a:ext uri="{FF2B5EF4-FFF2-40B4-BE49-F238E27FC236}">
                <a16:creationId xmlns:a16="http://schemas.microsoft.com/office/drawing/2014/main" id="{E4DAE7FE-9AA5-58FE-311C-10A4963577F9}"/>
              </a:ext>
            </a:extLst>
          </p:cNvPr>
          <p:cNvSpPr txBox="1"/>
          <p:nvPr/>
        </p:nvSpPr>
        <p:spPr>
          <a:xfrm>
            <a:off x="1633354" y="1528259"/>
            <a:ext cx="5863329" cy="923330"/>
          </a:xfrm>
          <a:prstGeom prst="rect">
            <a:avLst/>
          </a:prstGeom>
          <a:noFill/>
        </p:spPr>
        <p:txBody>
          <a:bodyPr wrap="square" rtlCol="0">
            <a:spAutoFit/>
          </a:bodyPr>
          <a:lstStyle/>
          <a:p>
            <a:r>
              <a:rPr lang="en-US" dirty="0"/>
              <a:t>How the analysis was structured and completed. </a:t>
            </a:r>
          </a:p>
          <a:p>
            <a:endParaRPr lang="en-US" dirty="0"/>
          </a:p>
          <a:p>
            <a:endParaRPr lang="en-US" dirty="0"/>
          </a:p>
        </p:txBody>
      </p:sp>
      <p:sp>
        <p:nvSpPr>
          <p:cNvPr id="5" name="TextBox 4">
            <a:extLst>
              <a:ext uri="{FF2B5EF4-FFF2-40B4-BE49-F238E27FC236}">
                <a16:creationId xmlns:a16="http://schemas.microsoft.com/office/drawing/2014/main" id="{C77F2FF2-45BC-54A4-9E20-AD462F5AD7F3}"/>
              </a:ext>
            </a:extLst>
          </p:cNvPr>
          <p:cNvSpPr txBox="1"/>
          <p:nvPr/>
        </p:nvSpPr>
        <p:spPr>
          <a:xfrm>
            <a:off x="1877661" y="2482693"/>
            <a:ext cx="3846065" cy="400110"/>
          </a:xfrm>
          <a:prstGeom prst="rect">
            <a:avLst/>
          </a:prstGeom>
          <a:solidFill>
            <a:schemeClr val="tx1"/>
          </a:solidFill>
        </p:spPr>
        <p:txBody>
          <a:bodyPr wrap="square" rtlCol="0">
            <a:spAutoFit/>
          </a:bodyPr>
          <a:lstStyle/>
          <a:p>
            <a:pPr algn="ctr"/>
            <a:r>
              <a:rPr lang="en-US" sz="2000" dirty="0">
                <a:solidFill>
                  <a:schemeClr val="bg2"/>
                </a:solidFill>
              </a:rPr>
              <a:t>Data Sources</a:t>
            </a:r>
          </a:p>
        </p:txBody>
      </p:sp>
      <p:sp>
        <p:nvSpPr>
          <p:cNvPr id="6" name="TextBox 5">
            <a:extLst>
              <a:ext uri="{FF2B5EF4-FFF2-40B4-BE49-F238E27FC236}">
                <a16:creationId xmlns:a16="http://schemas.microsoft.com/office/drawing/2014/main" id="{2E681AF5-DD7B-2A60-1FFC-C0699D2125E8}"/>
              </a:ext>
            </a:extLst>
          </p:cNvPr>
          <p:cNvSpPr txBox="1"/>
          <p:nvPr/>
        </p:nvSpPr>
        <p:spPr>
          <a:xfrm>
            <a:off x="6768424" y="2482693"/>
            <a:ext cx="3846065" cy="369332"/>
          </a:xfrm>
          <a:prstGeom prst="rect">
            <a:avLst/>
          </a:prstGeom>
          <a:solidFill>
            <a:schemeClr val="tx1"/>
          </a:solidFill>
        </p:spPr>
        <p:txBody>
          <a:bodyPr wrap="square" rtlCol="0">
            <a:spAutoFit/>
          </a:bodyPr>
          <a:lstStyle/>
          <a:p>
            <a:pPr algn="ctr"/>
            <a:r>
              <a:rPr lang="en-US" dirty="0">
                <a:solidFill>
                  <a:schemeClr val="bg2"/>
                </a:solidFill>
              </a:rPr>
              <a:t>Analytical Process</a:t>
            </a:r>
          </a:p>
        </p:txBody>
      </p:sp>
      <p:sp>
        <p:nvSpPr>
          <p:cNvPr id="7" name="TextBox 6">
            <a:extLst>
              <a:ext uri="{FF2B5EF4-FFF2-40B4-BE49-F238E27FC236}">
                <a16:creationId xmlns:a16="http://schemas.microsoft.com/office/drawing/2014/main" id="{96E356A7-07DE-DE1C-9BFA-6496D7644597}"/>
              </a:ext>
            </a:extLst>
          </p:cNvPr>
          <p:cNvSpPr txBox="1"/>
          <p:nvPr/>
        </p:nvSpPr>
        <p:spPr>
          <a:xfrm>
            <a:off x="6768423" y="3227783"/>
            <a:ext cx="3846066" cy="2800767"/>
          </a:xfrm>
          <a:prstGeom prst="rect">
            <a:avLst/>
          </a:prstGeom>
          <a:noFill/>
        </p:spPr>
        <p:txBody>
          <a:bodyPr wrap="square" rtlCol="0">
            <a:spAutoFit/>
          </a:bodyPr>
          <a:lstStyle/>
          <a:p>
            <a:pPr marL="285750" indent="-285750">
              <a:buFont typeface="Arial" panose="020B0604020202020204" pitchFamily="34" charset="0"/>
              <a:buChar char="•"/>
            </a:pPr>
            <a:r>
              <a:rPr lang="en-US" sz="1600" dirty="0"/>
              <a:t>Extract -Downloaded EIA Henry Hub spot price dataset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Clean - Removed nulls, standardized dates, validated ranges in MySQL</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Analyze - Calculated monthly average, rolling volatility and YoY change in Excel</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Visualize - Build Tableau visualizations and Excel Pivot Tables</a:t>
            </a:r>
          </a:p>
        </p:txBody>
      </p:sp>
    </p:spTree>
    <p:extLst>
      <p:ext uri="{BB962C8B-B14F-4D97-AF65-F5344CB8AC3E}">
        <p14:creationId xmlns:p14="http://schemas.microsoft.com/office/powerpoint/2010/main" val="3025767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E3FC92A-1338-2F44-34D9-56E91D2DAFF1}"/>
              </a:ext>
            </a:extLst>
          </p:cNvPr>
          <p:cNvSpPr/>
          <p:nvPr/>
        </p:nvSpPr>
        <p:spPr>
          <a:xfrm>
            <a:off x="8596639" y="1782144"/>
            <a:ext cx="2340677" cy="10727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C1ADA69-9C2B-D90B-634E-9543633D7BFB}"/>
              </a:ext>
            </a:extLst>
          </p:cNvPr>
          <p:cNvSpPr/>
          <p:nvPr/>
        </p:nvSpPr>
        <p:spPr>
          <a:xfrm>
            <a:off x="6061099" y="1789973"/>
            <a:ext cx="2340677" cy="10727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02A9F39-7DC5-C082-8C2D-BB4BFA357953}"/>
              </a:ext>
            </a:extLst>
          </p:cNvPr>
          <p:cNvSpPr/>
          <p:nvPr/>
        </p:nvSpPr>
        <p:spPr>
          <a:xfrm>
            <a:off x="3544172" y="1782145"/>
            <a:ext cx="2340677" cy="10727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BD2C6B6-E59A-7582-5C89-A458B20BF00E}"/>
              </a:ext>
            </a:extLst>
          </p:cNvPr>
          <p:cNvSpPr/>
          <p:nvPr/>
        </p:nvSpPr>
        <p:spPr>
          <a:xfrm>
            <a:off x="1033063" y="1782146"/>
            <a:ext cx="2340677" cy="10727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9466E4-B4BD-4A17-6F2C-568315F971AB}"/>
              </a:ext>
            </a:extLst>
          </p:cNvPr>
          <p:cNvSpPr>
            <a:spLocks noGrp="1"/>
          </p:cNvSpPr>
          <p:nvPr>
            <p:ph type="title"/>
          </p:nvPr>
        </p:nvSpPr>
        <p:spPr>
          <a:xfrm>
            <a:off x="1263989" y="238776"/>
            <a:ext cx="10515600" cy="772640"/>
          </a:xfrm>
        </p:spPr>
        <p:txBody>
          <a:bodyPr/>
          <a:lstStyle/>
          <a:p>
            <a:r>
              <a:rPr lang="en-US" dirty="0"/>
              <a:t>Key Findings</a:t>
            </a:r>
          </a:p>
        </p:txBody>
      </p:sp>
      <p:sp>
        <p:nvSpPr>
          <p:cNvPr id="3" name="Content Placeholder 2">
            <a:extLst>
              <a:ext uri="{FF2B5EF4-FFF2-40B4-BE49-F238E27FC236}">
                <a16:creationId xmlns:a16="http://schemas.microsoft.com/office/drawing/2014/main" id="{CB76D7F3-02CA-2B4D-ABFA-904DC26366D0}"/>
              </a:ext>
            </a:extLst>
          </p:cNvPr>
          <p:cNvSpPr>
            <a:spLocks noGrp="1"/>
          </p:cNvSpPr>
          <p:nvPr>
            <p:ph idx="1"/>
          </p:nvPr>
        </p:nvSpPr>
        <p:spPr>
          <a:xfrm>
            <a:off x="838200" y="2854881"/>
            <a:ext cx="10515600" cy="3322081"/>
          </a:xfrm>
        </p:spPr>
        <p:txBody>
          <a:bodyPr>
            <a:normAutofit fontScale="92500"/>
          </a:bodyPr>
          <a:lstStyle/>
          <a:p>
            <a:r>
              <a:rPr lang="en-US" dirty="0"/>
              <a:t>Winter months consistently show the highest price volatility due to heating demand and storage withdrawals</a:t>
            </a:r>
          </a:p>
          <a:p>
            <a:r>
              <a:rPr lang="en-US" dirty="0"/>
              <a:t>Price spikes correlate strongly with cold snaps, supply disruptions and storage inventory shortfalls</a:t>
            </a:r>
          </a:p>
          <a:p>
            <a:r>
              <a:rPr lang="en-US" dirty="0"/>
              <a:t>Post 2020 energy transition dynamics introduced new structured volatility  - LNG exports created tighter domestic supply</a:t>
            </a:r>
          </a:p>
          <a:p>
            <a:r>
              <a:rPr lang="en-US" dirty="0"/>
              <a:t>Rolling 30-day volatility is a reliable leading indicator for period of elevated trading risk. </a:t>
            </a:r>
          </a:p>
          <a:p>
            <a:endParaRPr lang="en-US" dirty="0"/>
          </a:p>
        </p:txBody>
      </p:sp>
      <p:sp>
        <p:nvSpPr>
          <p:cNvPr id="4" name="TextBox 3">
            <a:extLst>
              <a:ext uri="{FF2B5EF4-FFF2-40B4-BE49-F238E27FC236}">
                <a16:creationId xmlns:a16="http://schemas.microsoft.com/office/drawing/2014/main" id="{D80163E3-271A-5402-5AD9-74D5C4B0CF40}"/>
              </a:ext>
            </a:extLst>
          </p:cNvPr>
          <p:cNvSpPr txBox="1"/>
          <p:nvPr/>
        </p:nvSpPr>
        <p:spPr>
          <a:xfrm>
            <a:off x="1263989" y="935892"/>
            <a:ext cx="5047344" cy="369332"/>
          </a:xfrm>
          <a:prstGeom prst="rect">
            <a:avLst/>
          </a:prstGeom>
          <a:noFill/>
        </p:spPr>
        <p:txBody>
          <a:bodyPr wrap="none" rtlCol="0">
            <a:spAutoFit/>
          </a:bodyPr>
          <a:lstStyle/>
          <a:p>
            <a:r>
              <a:rPr lang="en-US" dirty="0"/>
              <a:t>Patterns, anomalies and implications for trading risk</a:t>
            </a:r>
          </a:p>
        </p:txBody>
      </p:sp>
      <p:sp>
        <p:nvSpPr>
          <p:cNvPr id="5" name="TextBox 4">
            <a:extLst>
              <a:ext uri="{FF2B5EF4-FFF2-40B4-BE49-F238E27FC236}">
                <a16:creationId xmlns:a16="http://schemas.microsoft.com/office/drawing/2014/main" id="{BD8B804A-0C68-DD83-F904-DDA8086703EB}"/>
              </a:ext>
            </a:extLst>
          </p:cNvPr>
          <p:cNvSpPr txBox="1"/>
          <p:nvPr/>
        </p:nvSpPr>
        <p:spPr>
          <a:xfrm>
            <a:off x="1165685" y="1893078"/>
            <a:ext cx="2045185" cy="954107"/>
          </a:xfrm>
          <a:prstGeom prst="rect">
            <a:avLst/>
          </a:prstGeom>
          <a:noFill/>
        </p:spPr>
        <p:txBody>
          <a:bodyPr wrap="square" rtlCol="0">
            <a:spAutoFit/>
          </a:bodyPr>
          <a:lstStyle/>
          <a:p>
            <a:pPr algn="ctr"/>
            <a:r>
              <a:rPr lang="en-US" sz="2800" dirty="0"/>
              <a:t>40%+</a:t>
            </a:r>
          </a:p>
          <a:p>
            <a:pPr algn="ctr"/>
            <a:r>
              <a:rPr lang="en-US" sz="2800" dirty="0"/>
              <a:t> </a:t>
            </a:r>
            <a:r>
              <a:rPr lang="en-US" sz="1300" dirty="0"/>
              <a:t>Peak monthly price swing</a:t>
            </a:r>
          </a:p>
        </p:txBody>
      </p:sp>
      <p:sp>
        <p:nvSpPr>
          <p:cNvPr id="6" name="TextBox 5">
            <a:extLst>
              <a:ext uri="{FF2B5EF4-FFF2-40B4-BE49-F238E27FC236}">
                <a16:creationId xmlns:a16="http://schemas.microsoft.com/office/drawing/2014/main" id="{8A06DF97-6AEB-FA3D-05A5-66B962210E43}"/>
              </a:ext>
            </a:extLst>
          </p:cNvPr>
          <p:cNvSpPr txBox="1"/>
          <p:nvPr/>
        </p:nvSpPr>
        <p:spPr>
          <a:xfrm>
            <a:off x="3697154" y="1980090"/>
            <a:ext cx="1963750" cy="723275"/>
          </a:xfrm>
          <a:prstGeom prst="rect">
            <a:avLst/>
          </a:prstGeom>
          <a:noFill/>
        </p:spPr>
        <p:txBody>
          <a:bodyPr wrap="square" rtlCol="0">
            <a:spAutoFit/>
          </a:bodyPr>
          <a:lstStyle/>
          <a:p>
            <a:pPr algn="ctr"/>
            <a:r>
              <a:rPr kumimoji="0" lang="en-US" sz="2800" b="0" i="0" u="none" strike="noStrike" kern="1200" cap="none" spc="0" normalizeH="0" baseline="0" noProof="0" dirty="0">
                <a:ln>
                  <a:noFill/>
                </a:ln>
                <a:solidFill>
                  <a:prstClr val="white"/>
                </a:solidFill>
                <a:effectLst/>
                <a:uLnTx/>
                <a:uFillTx/>
                <a:latin typeface="Tw Cen MT" panose="020B0602020104020603"/>
                <a:ea typeface="+mn-ea"/>
                <a:cs typeface="+mn-cs"/>
              </a:rPr>
              <a:t>#1 Driver </a:t>
            </a:r>
          </a:p>
          <a:p>
            <a:pPr algn="ctr"/>
            <a:r>
              <a:rPr lang="en-US" sz="1300" dirty="0"/>
              <a:t>Winter heating demand</a:t>
            </a:r>
          </a:p>
        </p:txBody>
      </p:sp>
      <p:sp>
        <p:nvSpPr>
          <p:cNvPr id="7" name="TextBox 6">
            <a:extLst>
              <a:ext uri="{FF2B5EF4-FFF2-40B4-BE49-F238E27FC236}">
                <a16:creationId xmlns:a16="http://schemas.microsoft.com/office/drawing/2014/main" id="{734B4A47-F58B-8A23-7608-FC2B44BE4BA2}"/>
              </a:ext>
            </a:extLst>
          </p:cNvPr>
          <p:cNvSpPr txBox="1"/>
          <p:nvPr/>
        </p:nvSpPr>
        <p:spPr>
          <a:xfrm>
            <a:off x="6101815" y="1978904"/>
            <a:ext cx="2299961" cy="723275"/>
          </a:xfrm>
          <a:prstGeom prst="rect">
            <a:avLst/>
          </a:prstGeom>
          <a:noFill/>
        </p:spPr>
        <p:txBody>
          <a:bodyPr wrap="square" rtlCol="0">
            <a:spAutoFit/>
          </a:bodyPr>
          <a:lstStyle/>
          <a:p>
            <a:r>
              <a:rPr lang="en-US" sz="1300" dirty="0"/>
              <a:t>Most volatile years so far: </a:t>
            </a:r>
          </a:p>
          <a:p>
            <a:pPr algn="ctr"/>
            <a:r>
              <a:rPr lang="en-US" sz="2800" dirty="0"/>
              <a:t>2005 &amp; 2022</a:t>
            </a:r>
          </a:p>
        </p:txBody>
      </p:sp>
      <p:sp>
        <p:nvSpPr>
          <p:cNvPr id="8" name="TextBox 7">
            <a:extLst>
              <a:ext uri="{FF2B5EF4-FFF2-40B4-BE49-F238E27FC236}">
                <a16:creationId xmlns:a16="http://schemas.microsoft.com/office/drawing/2014/main" id="{A0E05A3A-200C-6C2C-8253-E0D06E3E7C60}"/>
              </a:ext>
            </a:extLst>
          </p:cNvPr>
          <p:cNvSpPr txBox="1"/>
          <p:nvPr/>
        </p:nvSpPr>
        <p:spPr>
          <a:xfrm>
            <a:off x="8745549" y="1862434"/>
            <a:ext cx="1931177" cy="1000274"/>
          </a:xfrm>
          <a:prstGeom prst="rect">
            <a:avLst/>
          </a:prstGeom>
          <a:noFill/>
        </p:spPr>
        <p:txBody>
          <a:bodyPr wrap="square" rtlCol="0">
            <a:spAutoFit/>
          </a:bodyPr>
          <a:lstStyle/>
          <a:p>
            <a:pPr algn="ctr"/>
            <a:r>
              <a:rPr lang="en-US" sz="2800" dirty="0"/>
              <a:t>20+ years</a:t>
            </a:r>
          </a:p>
          <a:p>
            <a:pPr algn="ctr"/>
            <a:r>
              <a:rPr lang="en-US" dirty="0"/>
              <a:t> </a:t>
            </a:r>
            <a:r>
              <a:rPr lang="en-US" sz="1300" dirty="0"/>
              <a:t>of oil pricing cycles analyzed</a:t>
            </a:r>
          </a:p>
        </p:txBody>
      </p:sp>
    </p:spTree>
    <p:extLst>
      <p:ext uri="{BB962C8B-B14F-4D97-AF65-F5344CB8AC3E}">
        <p14:creationId xmlns:p14="http://schemas.microsoft.com/office/powerpoint/2010/main" val="369206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3345-A029-FA05-D46C-2C0F388D9EF8}"/>
              </a:ext>
            </a:extLst>
          </p:cNvPr>
          <p:cNvSpPr>
            <a:spLocks noGrp="1"/>
          </p:cNvSpPr>
          <p:nvPr>
            <p:ph type="title"/>
          </p:nvPr>
        </p:nvSpPr>
        <p:spPr>
          <a:xfrm>
            <a:off x="304699" y="176661"/>
            <a:ext cx="10515600" cy="1325563"/>
          </a:xfrm>
        </p:spPr>
        <p:txBody>
          <a:bodyPr/>
          <a:lstStyle/>
          <a:p>
            <a:pPr algn="ctr"/>
            <a:r>
              <a:rPr lang="en-US" dirty="0"/>
              <a:t>Tableau Visual Analysis</a:t>
            </a:r>
          </a:p>
        </p:txBody>
      </p:sp>
      <p:pic>
        <p:nvPicPr>
          <p:cNvPr id="12" name="Content Placeholder 11">
            <a:extLst>
              <a:ext uri="{FF2B5EF4-FFF2-40B4-BE49-F238E27FC236}">
                <a16:creationId xmlns:a16="http://schemas.microsoft.com/office/drawing/2014/main" id="{2B840EC7-3A16-AE3F-3FD4-23A771F79F0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82182" y="2575675"/>
            <a:ext cx="5546294" cy="3934819"/>
          </a:xfrm>
          <a:prstGeom prst="rect">
            <a:avLst/>
          </a:prstGeom>
        </p:spPr>
      </p:pic>
      <p:pic>
        <p:nvPicPr>
          <p:cNvPr id="14" name="Content Placeholder 13">
            <a:extLst>
              <a:ext uri="{FF2B5EF4-FFF2-40B4-BE49-F238E27FC236}">
                <a16:creationId xmlns:a16="http://schemas.microsoft.com/office/drawing/2014/main" id="{8E5CC77D-A679-1E8E-8FCC-519D0D14A3B7}"/>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096000" y="1456271"/>
            <a:ext cx="5397993" cy="3445869"/>
          </a:xfrm>
          <a:prstGeom prst="rect">
            <a:avLst/>
          </a:prstGeom>
        </p:spPr>
      </p:pic>
    </p:spTree>
    <p:extLst>
      <p:ext uri="{BB962C8B-B14F-4D97-AF65-F5344CB8AC3E}">
        <p14:creationId xmlns:p14="http://schemas.microsoft.com/office/powerpoint/2010/main" val="2220916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9ADA-58B8-0FA8-14EC-5C8EBBC6F011}"/>
              </a:ext>
            </a:extLst>
          </p:cNvPr>
          <p:cNvSpPr>
            <a:spLocks noGrp="1"/>
          </p:cNvSpPr>
          <p:nvPr>
            <p:ph type="title"/>
          </p:nvPr>
        </p:nvSpPr>
        <p:spPr>
          <a:xfrm>
            <a:off x="251868" y="150747"/>
            <a:ext cx="10515600" cy="1325563"/>
          </a:xfrm>
        </p:spPr>
        <p:txBody>
          <a:bodyPr/>
          <a:lstStyle/>
          <a:p>
            <a:pPr algn="ctr"/>
            <a:r>
              <a:rPr lang="en-US" dirty="0"/>
              <a:t>Pivot Tables</a:t>
            </a:r>
          </a:p>
        </p:txBody>
      </p:sp>
      <p:pic>
        <p:nvPicPr>
          <p:cNvPr id="14" name="Content Placeholder 13">
            <a:extLst>
              <a:ext uri="{FF2B5EF4-FFF2-40B4-BE49-F238E27FC236}">
                <a16:creationId xmlns:a16="http://schemas.microsoft.com/office/drawing/2014/main" id="{13EDDF97-D52C-6A7F-9D10-491071D56A5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54438" y="1606145"/>
            <a:ext cx="6756206" cy="2299722"/>
          </a:xfrm>
          <a:prstGeom prst="rect">
            <a:avLst/>
          </a:prstGeom>
        </p:spPr>
      </p:pic>
      <p:pic>
        <p:nvPicPr>
          <p:cNvPr id="16" name="Content Placeholder 15">
            <a:extLst>
              <a:ext uri="{FF2B5EF4-FFF2-40B4-BE49-F238E27FC236}">
                <a16:creationId xmlns:a16="http://schemas.microsoft.com/office/drawing/2014/main" id="{D3046C03-ED40-B83F-6297-32E458E13EC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320715" y="4035702"/>
            <a:ext cx="7033085" cy="2457173"/>
          </a:xfrm>
          <a:prstGeom prst="rect">
            <a:avLst/>
          </a:prstGeom>
        </p:spPr>
      </p:pic>
    </p:spTree>
    <p:extLst>
      <p:ext uri="{BB962C8B-B14F-4D97-AF65-F5344CB8AC3E}">
        <p14:creationId xmlns:p14="http://schemas.microsoft.com/office/powerpoint/2010/main" val="3085020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488656-D5DC-5DBD-D300-654B231050BC}"/>
              </a:ext>
            </a:extLst>
          </p:cNvPr>
          <p:cNvSpPr>
            <a:spLocks noGrp="1"/>
          </p:cNvSpPr>
          <p:nvPr>
            <p:ph type="title"/>
          </p:nvPr>
        </p:nvSpPr>
        <p:spPr>
          <a:xfrm>
            <a:off x="765247" y="860099"/>
            <a:ext cx="10515600" cy="577196"/>
          </a:xfrm>
        </p:spPr>
        <p:txBody>
          <a:bodyPr>
            <a:noAutofit/>
          </a:bodyPr>
          <a:lstStyle/>
          <a:p>
            <a:pPr algn="ctr"/>
            <a:r>
              <a:rPr lang="en-US" sz="3600" dirty="0"/>
              <a:t>Translating market analysis into risk management action</a:t>
            </a:r>
            <a:br>
              <a:rPr lang="en-US" sz="3600" dirty="0"/>
            </a:br>
            <a:endParaRPr lang="en-US" sz="3600" dirty="0"/>
          </a:p>
        </p:txBody>
      </p:sp>
      <p:sp>
        <p:nvSpPr>
          <p:cNvPr id="6" name="Text Placeholder 5">
            <a:extLst>
              <a:ext uri="{FF2B5EF4-FFF2-40B4-BE49-F238E27FC236}">
                <a16:creationId xmlns:a16="http://schemas.microsoft.com/office/drawing/2014/main" id="{8FCDA249-8EDB-59BA-FF42-4AAB42659619}"/>
              </a:ext>
            </a:extLst>
          </p:cNvPr>
          <p:cNvSpPr>
            <a:spLocks noGrp="1"/>
          </p:cNvSpPr>
          <p:nvPr>
            <p:ph type="body" idx="1"/>
          </p:nvPr>
        </p:nvSpPr>
        <p:spPr>
          <a:xfrm>
            <a:off x="1429925" y="1554659"/>
            <a:ext cx="5157787" cy="823912"/>
          </a:xfrm>
        </p:spPr>
        <p:txBody>
          <a:bodyPr/>
          <a:lstStyle/>
          <a:p>
            <a:r>
              <a:rPr lang="en-US" dirty="0"/>
              <a:t>This Analysis enabled:</a:t>
            </a:r>
          </a:p>
        </p:txBody>
      </p:sp>
      <p:sp>
        <p:nvSpPr>
          <p:cNvPr id="7" name="Content Placeholder 6">
            <a:extLst>
              <a:ext uri="{FF2B5EF4-FFF2-40B4-BE49-F238E27FC236}">
                <a16:creationId xmlns:a16="http://schemas.microsoft.com/office/drawing/2014/main" id="{D7E3893A-E461-6D9E-E908-2C96DEC8AC57}"/>
              </a:ext>
            </a:extLst>
          </p:cNvPr>
          <p:cNvSpPr>
            <a:spLocks noGrp="1"/>
          </p:cNvSpPr>
          <p:nvPr>
            <p:ph sz="half" idx="2"/>
          </p:nvPr>
        </p:nvSpPr>
        <p:spPr>
          <a:xfrm>
            <a:off x="836612" y="2379752"/>
            <a:ext cx="5157787" cy="3684588"/>
          </a:xfrm>
        </p:spPr>
        <p:txBody>
          <a:bodyPr>
            <a:normAutofit lnSpcReduction="10000"/>
          </a:bodyPr>
          <a:lstStyle/>
          <a:p>
            <a:r>
              <a:rPr lang="en-US" dirty="0"/>
              <a:t>Daily risk reports flagging high-volatility periods</a:t>
            </a:r>
          </a:p>
          <a:p>
            <a:r>
              <a:rPr lang="en-US" dirty="0"/>
              <a:t>Market to market exposure tracking against price moves</a:t>
            </a:r>
          </a:p>
          <a:p>
            <a:r>
              <a:rPr lang="en-US" dirty="0"/>
              <a:t>Seasonal position limit recommendations for trading </a:t>
            </a:r>
          </a:p>
          <a:p>
            <a:r>
              <a:rPr lang="en-US" dirty="0"/>
              <a:t>Counterparty stress-testing during volatile periods</a:t>
            </a:r>
          </a:p>
        </p:txBody>
      </p:sp>
      <p:sp>
        <p:nvSpPr>
          <p:cNvPr id="8" name="Text Placeholder 7">
            <a:extLst>
              <a:ext uri="{FF2B5EF4-FFF2-40B4-BE49-F238E27FC236}">
                <a16:creationId xmlns:a16="http://schemas.microsoft.com/office/drawing/2014/main" id="{E65C67BD-FE81-8649-F2A7-7FA7BE4601DF}"/>
              </a:ext>
            </a:extLst>
          </p:cNvPr>
          <p:cNvSpPr>
            <a:spLocks noGrp="1"/>
          </p:cNvSpPr>
          <p:nvPr>
            <p:ph type="body" sz="quarter" idx="3"/>
          </p:nvPr>
        </p:nvSpPr>
        <p:spPr>
          <a:xfrm>
            <a:off x="6850561" y="1554659"/>
            <a:ext cx="5183188" cy="823912"/>
          </a:xfrm>
        </p:spPr>
        <p:txBody>
          <a:bodyPr/>
          <a:lstStyle/>
          <a:p>
            <a:r>
              <a:rPr lang="en-US" dirty="0"/>
              <a:t>Skills demonstrated:</a:t>
            </a:r>
          </a:p>
        </p:txBody>
      </p:sp>
      <p:sp>
        <p:nvSpPr>
          <p:cNvPr id="9" name="Content Placeholder 8">
            <a:extLst>
              <a:ext uri="{FF2B5EF4-FFF2-40B4-BE49-F238E27FC236}">
                <a16:creationId xmlns:a16="http://schemas.microsoft.com/office/drawing/2014/main" id="{53B7499F-DE71-C28E-74E0-FFD99C886209}"/>
              </a:ext>
            </a:extLst>
          </p:cNvPr>
          <p:cNvSpPr>
            <a:spLocks noGrp="1"/>
          </p:cNvSpPr>
          <p:nvPr>
            <p:ph sz="quarter" idx="4"/>
          </p:nvPr>
        </p:nvSpPr>
        <p:spPr>
          <a:xfrm>
            <a:off x="6197603" y="2495935"/>
            <a:ext cx="5183188" cy="3684588"/>
          </a:xfrm>
        </p:spPr>
        <p:txBody>
          <a:bodyPr>
            <a:normAutofit lnSpcReduction="10000"/>
          </a:bodyPr>
          <a:lstStyle/>
          <a:p>
            <a:r>
              <a:rPr lang="en-US" dirty="0"/>
              <a:t>SQL – data extraction, cleaning and transformation</a:t>
            </a:r>
          </a:p>
          <a:p>
            <a:r>
              <a:rPr lang="en-US" dirty="0"/>
              <a:t>Excel – pivot analysis, trend modeling</a:t>
            </a:r>
          </a:p>
          <a:p>
            <a:r>
              <a:rPr lang="en-US" dirty="0"/>
              <a:t>Tableau – interactive risk dashboard</a:t>
            </a:r>
          </a:p>
          <a:p>
            <a:r>
              <a:rPr lang="en-US" dirty="0"/>
              <a:t>EIA data fluency – understanding energy data</a:t>
            </a:r>
          </a:p>
        </p:txBody>
      </p:sp>
      <p:sp>
        <p:nvSpPr>
          <p:cNvPr id="11" name="TextBox 10">
            <a:extLst>
              <a:ext uri="{FF2B5EF4-FFF2-40B4-BE49-F238E27FC236}">
                <a16:creationId xmlns:a16="http://schemas.microsoft.com/office/drawing/2014/main" id="{A388F717-58EB-2D61-597E-7C096DA5E240}"/>
              </a:ext>
            </a:extLst>
          </p:cNvPr>
          <p:cNvSpPr txBox="1"/>
          <p:nvPr/>
        </p:nvSpPr>
        <p:spPr>
          <a:xfrm>
            <a:off x="1801523" y="6308208"/>
            <a:ext cx="8588954" cy="369332"/>
          </a:xfrm>
          <a:prstGeom prst="rect">
            <a:avLst/>
          </a:prstGeom>
          <a:noFill/>
        </p:spPr>
        <p:txBody>
          <a:bodyPr wrap="none" rtlCol="0">
            <a:spAutoFit/>
          </a:bodyPr>
          <a:lstStyle/>
          <a:p>
            <a:r>
              <a:rPr lang="en-US" dirty="0"/>
              <a:t>Full Dashboard: Tableau Public | SQL &amp; methodology: GitHub | jocelynland11@gmail.com</a:t>
            </a:r>
          </a:p>
        </p:txBody>
      </p:sp>
    </p:spTree>
    <p:extLst>
      <p:ext uri="{BB962C8B-B14F-4D97-AF65-F5344CB8AC3E}">
        <p14:creationId xmlns:p14="http://schemas.microsoft.com/office/powerpoint/2010/main" val="20833567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3680</TotalTime>
  <Words>476</Words>
  <Application>Microsoft Office PowerPoint</Application>
  <PresentationFormat>Widescreen</PresentationFormat>
  <Paragraphs>55</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Tw Cen MT</vt:lpstr>
      <vt:lpstr>Circuit</vt:lpstr>
      <vt:lpstr>Natural Gas Price Volatility</vt:lpstr>
      <vt:lpstr>The Problem</vt:lpstr>
      <vt:lpstr>The Approach</vt:lpstr>
      <vt:lpstr>Key Findings</vt:lpstr>
      <vt:lpstr>Tableau Visual Analysis</vt:lpstr>
      <vt:lpstr>Pivot Tables</vt:lpstr>
      <vt:lpstr>Translating market analysis into risk management action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Jocelyn Beavers</dc:creator>
  <cp:lastModifiedBy>Jocelyn Beavers</cp:lastModifiedBy>
  <cp:revision>2</cp:revision>
  <dcterms:created xsi:type="dcterms:W3CDTF">2026-03-16T01:31:11Z</dcterms:created>
  <dcterms:modified xsi:type="dcterms:W3CDTF">2026-03-22T02:59:40Z</dcterms:modified>
</cp:coreProperties>
</file>